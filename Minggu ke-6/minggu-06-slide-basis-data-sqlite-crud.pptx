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0" r:id="rId31"/>
    <p:sldId id="281" r:id="rId32"/>
    <p:sldId id="282" r:id="rId33"/>
    <p:sldId id="283" r:id="rId34"/>
    <p:sldId id="284" r:id="rId35"/>
    <p:sldId id="285" r:id="rId36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menyebut tujuan minggu ini: data yang selama ini hilang saat program ditutup, mulai minggu ini akan tersimpan permanen di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kesinambungan: ERD Minggu 3 diwujudkan, fungsi Minggu 5 tetap dipakai. Kelas yang memakai modul Streamlit Minggu 5 tetap membuat database.py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Bacakan singkat; kembali ke slide ini saat penutupan Selasa untuk cek capaian bersama.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ke kelas: setelah program Minggu 5 ditutup, apakah transaksi kemarin masih ada? Biarkan mahasiswa menyadari masalahnya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Hubungkan dengan buku besar di akuntansi dan formulir administrasi yang sudah familiar bagi mahasiswa Administrasi Bisnis.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Jika ada yang bertanya tentang MySQL/XAMPP: SQLite dipilih karena nol instalasi dan cukup untuk aplikasi administrasi skala kecil.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Gunakan ERD pada slide sebelumnya: minta mahasiswa menunjuk entitas, PK, FK, dan sisi banyak. Tidak perlu membuka modul Minggu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Jalankan skrip dua kali di depan kelas untuk menunjukkan IF NOT EXISTS mencegah error 'table already exists'. Skrip lengkap (termasuk data awal) ada di folder kode-praktik.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contoh keputusan rancangan yang sangat 'administrasi bisnis'. Jika ERD mahasiswa belum punya kolom ini, minta mereka menambahkannya.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selain kasir memakai nama file &lt;nama_proyek&gt;.db dengan pola yang sama. Skrip awal hanya mengisi data jika tabel produk masih kosong, jadi aman dijalankan ulang.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Skrip uji_aturan.py melakukan rollback setelah setiap uji, sehingga data yatim dari uji C tidak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Pertanyaan pengarah dari outline. Biarkan mahasiswa menjawab dulu sebelum membuka kesimpulan dua lapis.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Pastikan semua mahasiswa sudah menyimpan file .db di folder proyek sebelum kelas berakhir.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Ulas singkat tabel yang dibuat Senin sebelum lanjut.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 fungsi di logika_bisnis.py yang nanti bisa memakai data dari database, misalnya harga produk diambil dari tabel.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cepat: coba nama dengan tanda kutip tunggal pada versi rangkaian teks, lalu tunjukkan error-nya. Versi ? berjalan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pola yang berulang: buka → try → execute → commit → finally close. Semua fungsi CRUD mengikuti pola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Peringatan WHERE sangat penting. Analoginya: menghapus satu catatan vs membakar seluruh buku besar.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Kunci jawaban hapus_produk ada di kode-dosen/database.py. Perhatikan tuple satu elemen: (id_produk,) dengan koma.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Kode lengkap main.py ada di lembar kerja dan folder kode-dosen. Program tidak boleh berhenti karena input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awal dari buat_database.py: Buku Tulis (ID 1, punya transaksi), Pulpen (ID 2), Map Plastik (ID 3). Skenario 4a membuktikan FK melindungi data terkait.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kebiasaan ini juga menjadi bagian kriteria penilaian praktikum.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Ingatkan: pakai data simulasi, bukan data pribadi pelanggan nyata.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Penutup: kembali ke slide capaian dan tanyakan poin mana yang masih belum yakin.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dari awal, bukan meminta mahasiswa mengingat atau membuka modul Minggu 3. ERD bukan flowchart: fokus pada apa yang dicatat dan hubungan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Tanya: Buku Tulis itu entitas atau isi tabel? Jawaban: isi satu baris. Tabel produk mewakili entitas; tidak membuat tabel sendiri untuk tiap barang.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 unik dan tidak kosong. FK boleh berulang. Nama tidak dipilih sebagai PK karena dapat sama atau berubah. Kolom id_produk punya peran berbeda pada tabel berbeda. FK pada transaksi ini wajib diisi.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Baca dua arah. Satu produk dapat belum terjual (0) atau muncul pada banyak transaksi (N). Setiap transaksi pada model sederhana ini tepat satu produk; FK NOT NULL. Jelaskan bahwa transaksi di skrip berarti satu catatan penjualan satu jenis produk, bukan satu nota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 transaksi sama-sama merujuk produk 1, sah karena FK boleh berulang. Produk 2 belum terjual, sah karena minimal nol transaksi. Data ini ilustrasi, bukan instruksi menambah data awal. PK transaksi 1 dan 2 tetap berbeda.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Jawaban cek: FK di transaksi (sisi N); produk boleh belum terjual. Untuk M:N gunakan tabel detail_transaksi, bukan menyimpan daftar ID dalam satu kolom. Model nota lengkap adalah materi lanjutan; jangan ubah skrip dasar minggu ini. Sisipkan pemahaman dalam alokasi 10–25 menit, bukan menambah durasi pertemuan.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91840" y="0"/>
            <a:ext cx="91440" cy="514350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68680" y="1417320"/>
            <a:ext cx="1554480" cy="1554480"/>
          </a:xfrm>
          <a:prstGeom prst="ellipse">
            <a:avLst/>
          </a:prstGeom>
          <a:solidFill>
            <a:srgbClr val="2C4370"/>
          </a:solidFill>
          <a:ln w="254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8288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246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840480" y="548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Pemograman Bisnis &amp; Perancangan Sistem Administrasi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40480" y="1097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Basis Data SQLite dan Operasi Data Dasar (CRUD)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840480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rancangan tabel Minggu 3 menjadi data yang tersimpan, bisa dibaca, diubah, dan dihapus lewat Python.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3703320"/>
            <a:ext cx="4754880" cy="0"/>
          </a:xfrm>
          <a:prstGeom prst="line">
            <a:avLst/>
          </a:prstGeom>
          <a:noFill/>
          <a:ln w="12700">
            <a:solidFill>
              <a:srgbClr val="C9D8E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840480" y="37947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ABT-3D · Administrasi Bisnis · Politeknik Negeri Semarang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Senin 16.00–17.30 (KAN 1) · Selasa 14.00–15.30 (KAN3)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PERJALANAN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mana kita dalam proyek?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143000" y="1645920"/>
            <a:ext cx="548640" cy="5486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8308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3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basis data (ERD, PK/FK)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2377440"/>
            <a:ext cx="182880" cy="1828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578608" y="141732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3218688" y="1645920"/>
            <a:ext cx="548640" cy="5486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848" y="17830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670048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4–5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2715768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Logika bisnis Python yang rapi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37744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654296" y="141732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5294376" y="1645920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78308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745736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6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4791456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SQLite + CRUD</a:t>
            </a:r>
            <a:endParaRPr lang="en-US" sz="12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2377440"/>
            <a:ext cx="182880" cy="1828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729984" y="141732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19"/>
          <p:cNvSpPr/>
          <p:nvPr/>
        </p:nvSpPr>
        <p:spPr>
          <a:xfrm>
            <a:off x="7370064" y="1645920"/>
            <a:ext cx="548640" cy="5486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4" y="1783080"/>
            <a:ext cx="274320" cy="2743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821424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7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6867144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Antarmuka Streamlit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502920" y="3840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ini tampilan masih lewat terminal. Bagian database yang kita buat akan dipakai ulang di Streamlit Minggu 7.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CAPAIAN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Setelah minggu ini, Anda dapat…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3</a:t>
            </a:r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Menjelaskan database dengan analogi lemari arsip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9385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Menerjemahkan ERD menjadi CREATE TABLE dengan PK, FK, dan CHECK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596896"/>
            <a:ext cx="457200" cy="4572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59689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file kasir.db dan mengisi data awal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255264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325526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Menjalankan CRUD dari Python dengan query berparameter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457200" cy="4572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8640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9136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Membuktikan data tersimpan, berubah, dan terlindungi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 · SENIN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 mana data kita pergi?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4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5361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 kasir Minggu 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21488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produk dan transaksi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dihitung dan ditampilkan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ditutup → semua data hilang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709160" y="128016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087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5361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Kebutuhan bisnis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983480" y="21488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harus diingat besok pagi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transaksi untuk laporan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aman dari isian keliru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02920" y="41148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data ke database, bukan hanya di memori program.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= lemari arsip digital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5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1874520" cy="29260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115568" y="1554480"/>
            <a:ext cx="640080" cy="640080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19072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Lemari arsip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" y="3200400"/>
            <a:ext cx="1325880" cy="0"/>
          </a:xfrm>
          <a:prstGeom prst="line">
            <a:avLst/>
          </a:prstGeom>
          <a:noFill/>
          <a:ln w="12700">
            <a:solidFill>
              <a:srgbClr val="C9D8EC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94360" y="33375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kasir.db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578608" y="1325880"/>
            <a:ext cx="1874520" cy="29260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3191256" y="1554480"/>
            <a:ext cx="640080" cy="640080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  <p:txBody>
          <a:bodyPr/>
          <a:p/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48" y="1719072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670048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Tabel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2670048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Buku besar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2852928" y="3200400"/>
            <a:ext cx="1325880" cy="0"/>
          </a:xfrm>
          <a:prstGeom prst="line">
            <a:avLst/>
          </a:prstGeom>
          <a:noFill/>
          <a:ln w="12700">
            <a:solidFill>
              <a:srgbClr val="C9D8EC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2670048" y="33375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produk, transaksi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654296" y="1325880"/>
            <a:ext cx="1874520" cy="29260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266944" y="1554480"/>
            <a:ext cx="640080" cy="640080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719072"/>
            <a:ext cx="310896" cy="31089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745736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Baris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4745736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Satu catatan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928616" y="3200400"/>
            <a:ext cx="1325880" cy="0"/>
          </a:xfrm>
          <a:prstGeom prst="line">
            <a:avLst/>
          </a:prstGeom>
          <a:noFill/>
          <a:ln w="12700">
            <a:solidFill>
              <a:srgbClr val="C9D8EC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4745736" y="33375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Buku Tulis · 5000 · 20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729984" y="1325880"/>
            <a:ext cx="1874520" cy="29260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7342632" y="1554480"/>
            <a:ext cx="640080" cy="640080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  <p:txBody>
          <a:bodyPr/>
          <a:p/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19072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821424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Kolom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6821424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Kolom formulir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7004304" y="3200400"/>
            <a:ext cx="1325880" cy="0"/>
          </a:xfrm>
          <a:prstGeom prst="line">
            <a:avLst/>
          </a:prstGeom>
          <a:noFill/>
          <a:ln w="12700">
            <a:solidFill>
              <a:srgbClr val="C9D8EC"/>
            </a:solidFill>
            <a:prstDash val="solid"/>
          </a:ln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6821424" y="33375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nama, harga, stok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KITA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Kenalan dengan SQLite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6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02920" y="1280160"/>
            <a:ext cx="91440" cy="86868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 file saja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database ada di kasir.db. Bisa disalin seperti file biasa.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" y="2304288"/>
            <a:ext cx="91440" cy="86868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23957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Tanpa server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27157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memasang MySQL atau menyalakan layanan apa pun.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28416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02920" y="3328416"/>
            <a:ext cx="91440" cy="86868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34198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ada di Python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373989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import sqlite3. Tidak perlu instalasi tambahan.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94960" y="1280160"/>
            <a:ext cx="3246120" cy="2807208"/>
          </a:xfrm>
          <a:prstGeom prst="roundRect">
            <a:avLst>
              <a:gd name="adj" fmla="val 26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577840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kita memakainya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18288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SQL dijalankan lewat skrip Python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Opsional: ekstensi VS Code “SQLite Viewer” untuk melihat isi tabel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sqlite3 terpisah tidak dipakai (biasanya tidak ada di Windows)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MENERJEMAHKAN RANCANGAN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Dari ERD ke tabel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13</a:t>
            </a: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ERD (contoh di sini)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database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4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produk, transaksi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Kolom + tipe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4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nama TEXT, harga INTEGER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4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id_produk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Relasi 1:N → FK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 … REFERENCES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4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transaksi.id_produk → produk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Aturan bisnis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NULL, 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4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harga &gt; 0, jumlah &gt;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63640" y="123444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DF1DC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800" y="1353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Tipe data kita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0" y="18288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bulat: harga rupiah, stok, ID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teks: nama, tanggal 'YYYY-MM-DD'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233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Rupiah disimpan sebagai angka bulat (INTEGER), bukan float.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DOSEN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Skrip awal: buat_database.py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14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577840" cy="3474720"/>
          </a:xfrm>
          <a:prstGeom prst="roundRect">
            <a:avLst>
              <a:gd name="adj" fmla="val 1579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" y="1280160"/>
            <a:ext cx="530352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koneksi = sqlite3.connect("kasir.db")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koneksi.execute("PRAGMA foreign_keys = ON")   </a:t>
            </a:r>
            <a:pPr indent="0" marL="0">
              <a:buNone/>
            </a:pPr>
            <a:r>
              <a:rPr lang="en-US" sz="9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wajib!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koneksi.executescript("""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IF NOT EXISTS produk 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id_produk  INTEGER PRIMARY KEY AUTOINCREMENT,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nama       TEXT    NOT NULL,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harga      INTEGER NOT NULL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CHECK (typeof(harga) = 'integer' AND harga &gt; 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stok       INTEGER NOT NULL DEFAULT 0 CHECK (stok &gt;= 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IF NOT EXISTS transaksi 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id_transaksi INTEGER PRIMARY KEY AUTOINCREMENT,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tanggal      TEXT    NOT NULL,     </a:t>
            </a:r>
            <a:pPr indent="0" marL="0">
              <a:buNone/>
            </a:pPr>
            <a:r>
              <a:rPr lang="en-US" sz="9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'YYYY-MM-DD'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id_produk    INTEGER NOT NULL,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jumlah       INTEGER NOT NULL CHECK (jumlah &gt; 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harga_satuan INTEGER NOT NULL,     </a:t>
            </a:r>
            <a:pPr indent="0" marL="0">
              <a:buNone/>
            </a:pPr>
            <a:r>
              <a:rPr lang="en-US" sz="9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harga saat transaksi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FOREIGN KEY (id_produk) REFERENCES produk(id_produk)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09360" y="118872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46520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PRAGMA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15179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Menyalakan penjaga relasi (FK)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2057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46520" y="21305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EXISTS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dijalankan berkali-kali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292608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4652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32552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isian: harga angka bulat &gt; 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379476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8679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FOREIGN KEY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41239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wajib merujuk produk yang ada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RANCANGAN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Mengapa transaksi mencatat harga?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15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5361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Analogi nota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21488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daftar harga toko naik, nota pelanggan bulan lalu tidak ikut diganti. Nota mencatat harga pada hari transaksi.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80160"/>
          <a:ext cx="3977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325880"/>
                <a:gridCol w="1325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Tanpa harga_satuan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Dengan harga_satuan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Buku Tulis naik 5000 → 6000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transaksi lama ikut berubah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lama tetap 5000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E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Laporan omzet bulan lalu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MENIT 40–65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Praktik: bangun database proyek Anda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16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1874520" cy="22860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Salin skrip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buat_database.py dari dosen ke folder proyek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78608" y="1325880"/>
            <a:ext cx="1874520" cy="22860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1576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715768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Sesuaikan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15768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 di A1, lalu tambah satu tabel berelasi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54296" y="1325880"/>
            <a:ext cx="1874520" cy="22860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91456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91456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Isi data awal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91456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baris contoh dengan INSERT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29984" y="1325880"/>
            <a:ext cx="1874520" cy="22860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67144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867144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Jalankan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67144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buat_database.py, lalu cek file kasir.db muncul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840480"/>
            <a:ext cx="8138160" cy="685800"/>
          </a:xfrm>
          <a:prstGeom prst="roundRect">
            <a:avLst>
              <a:gd name="adj" fmla="val 10667"/>
            </a:avLst>
          </a:prstGeom>
          <a:solidFill>
            <a:srgbClr val="E3F4EC"/>
          </a:solidFill>
          <a:ln w="12700">
            <a:solidFill>
              <a:srgbClr val="2E9E6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02336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143000" y="38862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CEK: terminal menulis “Database dan tabel siap.” dan file kasir.db (atau &lt;nama_proyek&gt;.db) ada di folder proyek.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MENIT 65–85 · UJI_ATURAN.PY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Uji penjaga: apakah database menolak?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17</a:t>
            </a: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dicoba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yang diharapkan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diisi teks 'seribu'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DITOLAK · CHECK constraint failed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untuk produk ID 999 (tidak ada)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DITOLAK · FOREIGN KEY constraint failed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Sama seperti B, tetapi tanpa PRAGMA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DITERIMA · relasi tidak dijaga!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349300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Pelajaran dari uji C: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SQLite, penjaga relasi mati secara bawaan. Baris PRAGMA foreign_keys = ON harus ada di setiap koneksi.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Siapa menjaga pintu masuk data?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18</a:t>
            </a:r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aturan CHECK, SQLite sebenarnya mau menyimpan teks “seribu” di kolom angka. SQLite longgar soal tipe data.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2920" y="1920240"/>
            <a:ext cx="3977640" cy="91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38887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08760" y="22860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Lapis 1 · Python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77240" y="30175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C4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int(input(...)) + try/except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isian keliru sebelum dikirim, dengan pesan ramah.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92024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663440" y="1920240"/>
            <a:ext cx="3977640" cy="9144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937760" y="2240280"/>
            <a:ext cx="594360" cy="59436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2388870"/>
            <a:ext cx="297180" cy="2971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69280" y="22860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Lapis 2 · Database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937760" y="30175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C4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NULL, CHECK, FOREIGN KEY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Penjaga terakhir, walaupun ada program lain yang lupa memvalidasi.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 PERTEMUAN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Rangkuman Senin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19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53896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132588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menyimpan data walaupun program ditutup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8541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20574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PK, FK, dan CHECK adalah aturan bisnis yang dijaga database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02920" y="278892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1693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27889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 foreign_keys = ON wajib di setiap koneksi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352044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648456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352044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kasir.db dan buat_database.py untuk hari Selasa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54864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2 · SELASA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menyimpan dan mengelola data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· Read · Update · Delete, lewat modul database.py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PROYEK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 tugas, satu file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21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02920" y="1325880"/>
            <a:ext cx="2560320" cy="91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490472" y="1600200"/>
            <a:ext cx="585216" cy="585216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776" y="1746504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terminal: menu, input, print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73552" y="13258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273552" y="1325880"/>
            <a:ext cx="2560320" cy="91440"/>
          </a:xfrm>
          <a:prstGeom prst="rect">
            <a:avLst/>
          </a:prstGeom>
          <a:solidFill>
            <a:srgbClr val="2C4370"/>
          </a:solidFill>
          <a:ln w="12700">
            <a:solidFill>
              <a:srgbClr val="2C4370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261104" y="1600200"/>
            <a:ext cx="585216" cy="585216"/>
          </a:xfrm>
          <a:prstGeom prst="ellipse">
            <a:avLst/>
          </a:prstGeom>
          <a:solidFill>
            <a:srgbClr val="2C4370"/>
          </a:solidFill>
          <a:ln w="12700">
            <a:solidFill>
              <a:srgbClr val="2C4370"/>
            </a:solidFill>
            <a:prstDash val="solid"/>
          </a:ln>
        </p:spPr>
        <p:txBody>
          <a:bodyPr/>
          <a:p/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746504"/>
            <a:ext cx="292608" cy="29260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364992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logika_bisnis.py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3410712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subtotal &amp; diskon (Minggu 5)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44184" y="13258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044184" y="1325880"/>
            <a:ext cx="2560320" cy="9144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7031736" y="1600200"/>
            <a:ext cx="585216" cy="58521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46504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135624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18134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&amp; ambil data (BARU)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502920" y="352044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FDF1DC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731520" y="35661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Streamlit Minggu 5?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database.py-nya sama persis. Fungsinya dipanggil dari app.py, bukan main.py. Minggu 7 semua kelas cukup mengganti tampilannya.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BERPARAMETER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Selalu pakai tanda tanya ( ? 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22</a:t>
            </a:r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Jangan: merangkai teks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164592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7512" y="1737360"/>
            <a:ext cx="7863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"INSERT INTO produk (nama) VALUES ('" + nama + "')"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cursor.execute(sql)</a:t>
            </a:r>
            <a:endParaRPr lang="en-US" sz="11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86968" y="25603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Lakukan: kirim nilai sebagai parameter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29718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67512" y="3063240"/>
            <a:ext cx="7863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koneksi.execute(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produk (nama, harga, stok) VALUES (?, ?, ?)",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(nama, harga, stok),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seperti Toko Pak D'Arso tidak merusak perintah, dan isian jahat tidak bisa menyusup jadi perintah SQL.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DOSEN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database.py: koneksi dan tambah data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23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394960" cy="3474720"/>
          </a:xfrm>
          <a:prstGeom prst="roundRect">
            <a:avLst>
              <a:gd name="adj" fmla="val 1579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" y="12618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7512" y="1481328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NAMA_DB = "kasir.db"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buka_koneksi():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koneksi = sqlite3.connect(NAMA_DB)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koneksi.execute("PRAGMA foreign_keys = ON")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koneksi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tambah_produk(nama, harga, stok):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koneksi = buka_koneksi()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koneksi.execute(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produk (nama, harga, stok) VALUES (?, ?, ?)",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(nama, harga, stok),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koneksi.commit()        </a:t>
            </a:r>
            <a:pPr indent="0" marL="0">
              <a:buNone/>
            </a:pPr>
            <a:r>
              <a:rPr lang="en-US" sz="9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simpan permanen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finally: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koneksi.close()         </a:t>
            </a:r>
            <a:pPr indent="0" marL="0">
              <a:buNone/>
            </a:pPr>
            <a:r>
              <a:rPr lang="en-US" sz="9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selalu ditutup, walau error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buka_koneksi()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tempat untuk PRAGMA, jadi tidak lupa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2176272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267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commit()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542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commit, perubahan hilang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163824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63640" y="3255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/ finally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3529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.db tidak terkunci saat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41605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with sqlite3.connect(...) hanya mengurus commit, tidak menutup koneksi.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 operasi dasar: CRUD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24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115568" y="1554480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5588" y="17145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tambah_produk()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578608" y="1325880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191256" y="1554480"/>
            <a:ext cx="640080" cy="640080"/>
          </a:xfrm>
          <a:prstGeom prst="ellipse">
            <a:avLst/>
          </a:prstGeom>
          <a:solidFill>
            <a:srgbClr val="2C4370"/>
          </a:solidFill>
          <a:ln w="12700">
            <a:solidFill>
              <a:srgbClr val="2C4370"/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171450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70048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2670048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670048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4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daftar_produk()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54296" y="1325880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266944" y="1554480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964" y="171450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745736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Update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4745736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… WHERE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745736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ubah_harga()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729984" y="1325880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7342632" y="155448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2652" y="171450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21424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Delete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6821424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… WHERE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21424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hapus_produk()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02920" y="4023360"/>
            <a:ext cx="8138160" cy="548640"/>
          </a:xfrm>
          <a:prstGeom prst="roundRect">
            <a:avLst>
              <a:gd name="adj" fmla="val 13333"/>
            </a:avLst>
          </a:prstGeom>
          <a:solidFill>
            <a:srgbClr val="FBE6E6"/>
          </a:solidFill>
          <a:ln w="12700">
            <a:solidFill>
              <a:srgbClr val="D64545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27"/>
          <p:cNvSpPr/>
          <p:nvPr/>
        </p:nvSpPr>
        <p:spPr>
          <a:xfrm>
            <a:off x="68580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dan DELETE tanpa WHERE mengenai SEMUA baris. Selalu sertakan WHERE id_produk = ?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· ROWCOUNT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Ubah data dan cek: kena berapa baris?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25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" y="12618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7512" y="1481328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ubah_harga(id_produk, harga_baru):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koneksi = buka_koneksi()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cursor = koneksi.execute(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"UPDATE produk SET harga = ? WHERE id_produk = ?",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(harga_baru, id_produk),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koneksi.commit()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cursor.rowcount   </a:t>
            </a:r>
            <a:pPr indent="0" marL="0">
              <a:buNone/>
            </a:pPr>
            <a:r>
              <a:rPr lang="en-US" sz="1050" dirty="0">
                <a:solidFill>
                  <a:srgbClr val="F5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= ID tidak ditemukan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finally: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koneksi.close()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1325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rowcount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0" y="173736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berhasil mengubah satu baris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ID tidak ada, tidak ada yang berubah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tidak menganggap 0 baris sebagai error, jadi kita yang memeriksa.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8138160" cy="548640"/>
          </a:xfrm>
          <a:prstGeom prst="roundRect">
            <a:avLst>
              <a:gd name="adj" fmla="val 13333"/>
            </a:avLst>
          </a:prstGeom>
          <a:solidFill>
            <a:srgbClr val="FDF1DC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Anda: tulis hapus_produk(id_produk) dengan pola yang sama, memakai DELETE … WHERE id_produk = ?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 MENIT 25–70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main.py: menu, input, dan penanganan error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26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394960" cy="3429000"/>
          </a:xfrm>
          <a:prstGeom prst="roundRect">
            <a:avLst>
              <a:gd name="adj" fmla="val 1600"/>
            </a:avLst>
          </a:prstGeom>
          <a:solidFill>
            <a:srgbClr val="15213B"/>
          </a:solidFill>
          <a:ln w="12700">
            <a:solidFill>
              <a:srgbClr val="15213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" y="12618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 (potongan)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7512" y="1481328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pilihan == "2":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nama = input("Nama produk: 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harga = int(input("Harga (angka bulat): "))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stok = int(input("Stok awal: "))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database.tambah_produk(nama, harga, stok)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print("Produk tersimpan.")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pilihan == "4":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id_produk = int(input("ID produk yang dihapus: "))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input("Yakin hapus? (y/n): ").lower() == "y":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print("Harus diisi angka bulat.")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sqlite3.IntegrityError as 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print("Database menolak:", 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1252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int(...)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5179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5 memakai float. Rupiah kita simpan bulat.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2121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86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 1: isian bukan angka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292608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63640" y="2990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IntegrityError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3255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 2: database menolak (CHECK/FK)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79476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63640" y="3858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Yakin hapus?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63640" y="41239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Konfirmasi sebelum tindakan permanen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MENIT 70–85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Uji silang: empat skenario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27</a:t>
            </a:r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8138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48840"/>
                <a:gridCol w="265176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Langkah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yang diharapkan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 Penghapus, 2000, stok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Muncul di daftar dengan ID baru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Ubah harga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Ubah harga ID 2 (Pulpen) → 3500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“Harga diubah.”, harga baru tampil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tidak 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Ubah harga ID 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“ID tidak ditemukan.”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produk yang punya transaksi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ID 1 (Buku Tulis)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Ditolak: FOREIGN KEY constraint failed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produk tanpa transaksi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ID 3 (Map Plastik)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Hilang dari daftar, data lain utuh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 hasil aktual di lembar kerja. Bila berbeda, tulis satu perbaikan yang Anda lakukan.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TEKNIS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 kebiasaan aman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28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1627632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787652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Pakai ?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19019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selalu lewat parameter, jangan rangkai teks SQL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2801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937760" y="1627632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787652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6072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commit()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5760720" y="19019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INSERT, UPDATE, DELETE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2920" y="283464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777240" y="3182112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342132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/ finally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34564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Koneksi selalu ditutup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663440" y="283464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4937760" y="3182112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3342132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7607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PRAGMA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760720" y="34564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foreign_keys = ON di setiap koneksi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LUARAN &amp; KRITERIA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Yang dikumpulkan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29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kasir.db (≥ 2 tabel berelasi)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buat_database.py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(CRUD berparameter)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 atau app.py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Lembar kerja terisi (hasil uji A–C dan skenario 1–4)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Kriteria selesai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PK/FK/CHECK sesuai rancangan A1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 aktif di setiap koneksi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berhasil, data terbaca kembali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yang melanggar relasi ditolak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salah tidak menghentikan program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329184"/>
            <a:ext cx="292608" cy="5486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68680" y="2194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JEMBATAN KE MINGGU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depan: wajah baru, mesin yang sama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6 · Basis Data SQLite &amp; CRUD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1838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30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02920" y="28346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6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 → input() / print()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Minggu 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383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→ form Streamlit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828800"/>
            <a:ext cx="320040" cy="3200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291840"/>
            <a:ext cx="320040" cy="3200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931920" y="1371600"/>
            <a:ext cx="4709160" cy="2651760"/>
          </a:xfrm>
          <a:prstGeom prst="roundRect">
            <a:avLst>
              <a:gd name="adj" fmla="val 275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4206240" y="1691640"/>
            <a:ext cx="731520" cy="7315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8745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2064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4206240" y="26060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diubah. Fungsi tambah, tampil, ubah, dan hapus yang Anda buat hari ini langsung dipanggil dari form Streamlit.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ERD = peta data sebelum membuat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7955279" cy="7772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Entity Relationship Diagram menunjukkan apa yang dicatat, informasi yang disimpan, dan hubungan antarcatatan.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423160"/>
            <a:ext cx="3703320" cy="146304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173042"/>
                </a:solidFill>
                <a:latin typeface="Calibri"/>
              </a:rPr>
              <a:t>BUKU DAFTAR PRODUK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73042"/>
                </a:solidFill>
                <a:latin typeface="Calibri"/>
              </a:rPr>
              <a:t>Nama barang, harga, stok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2423160"/>
            <a:ext cx="3931920" cy="146304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173042"/>
                </a:solidFill>
                <a:latin typeface="Calibri"/>
              </a:rPr>
              <a:t>BUKU CATATAN PENJUALAN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73042"/>
                </a:solidFill>
                <a:latin typeface="Calibri"/>
              </a:rPr>
              <a:t>Produk apa, kapan, berapa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14800"/>
            <a:ext cx="7955279" cy="4572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C56A32"/>
                </a:solidFill>
                <a:latin typeface="Calibri"/>
              </a:rPr>
              <a:t>ERD bukan urutan klik atau langkah program.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Empat istilah dengan contoh kasir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1828800" cy="5486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64E63"/>
                </a:solidFill>
                <a:latin typeface="Calibri"/>
              </a:rPr>
              <a:t>ENTITAS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25880"/>
            <a:ext cx="594360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Jenis yang dicatat → tabel: produk, transaksi.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1828800" cy="5486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64E63"/>
                </a:solidFill>
                <a:latin typeface="Calibri"/>
              </a:rPr>
              <a:t>ATRIBUT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057400"/>
            <a:ext cx="594360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Keterangan → kolom: nama, harga, stok.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1828800" cy="5486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64E63"/>
                </a:solidFill>
                <a:latin typeface="Calibri"/>
              </a:rPr>
              <a:t>BARIS /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788920"/>
            <a:ext cx="594360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Satu catatan nyata: Buku Tulis, 5000, stok 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1828800" cy="5486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64E63"/>
                </a:solidFill>
                <a:latin typeface="Calibri"/>
              </a:rPr>
              <a:t>RELASI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520440"/>
            <a:ext cx="594360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Hubungan: produk tercatat dalam transaksi.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56A32"/>
                </a:solidFill>
                <a:latin typeface="Calibri"/>
              </a:rPr>
              <a:t>“produk” adalah entitas; “Buku Tulis” adalah isi baris.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PK = identitas · FK = rujukan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371600"/>
            <a:ext cx="3703320" cy="246888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PRIMARY KEY (PK)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Nomor unik setiap catatan.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produk.id_produk = 1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Tidak boleh kembar / kosong.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371600"/>
            <a:ext cx="3931920" cy="246888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FOREIGN KEY (FK)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Nomor yang merujuk tabel lain.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transaksi.id_produk = 1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Boleh berulang antartransaksi.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7955279" cy="5486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64E63"/>
                </a:solidFill>
                <a:latin typeface="Calibri"/>
              </a:rPr>
              <a:t>produk.id_produk (PK) ← transaksi.id_produk (FK)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Relasi 1:N · satu produk, banyak transaksi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3063240" cy="242316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PRODUK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PK id_produk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nama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harga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stok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0" y="1325880"/>
            <a:ext cx="3246120" cy="242316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TRANSAKSI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PK id_transaksi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tanggal · FK id_produk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73042"/>
                </a:solidFill>
                <a:latin typeface="Calibri"/>
              </a:rPr>
              <a:t>jumlah · harga_satuan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965960"/>
            <a:ext cx="1508760" cy="11430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64E63"/>
                </a:solidFill>
                <a:latin typeface="Calibri"/>
              </a:rPr>
              <a:t>1 : 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4E63"/>
                </a:solidFill>
                <a:latin typeface="Calibri"/>
              </a:rPr>
              <a:t>FK di sisi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86200"/>
            <a:ext cx="7955279" cy="6858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Satu produk → 0..N catatan transaksi.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Setiap transaksi → tepat 1 produk yang 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Buktikan hubungan lewat data kecil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3703320" cy="228600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PRODUK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ID 1 · Buku Tulis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ID 2 · Pulpen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ID adalah PK: unik.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325880"/>
            <a:ext cx="3931920" cy="228600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TRANSAKSI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ID 1 → produk 1 · jumlah 2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ID 2 → produk 1 · jumlah 1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73042"/>
                </a:solidFill>
                <a:latin typeface="Calibri"/>
              </a:rPr>
              <a:t>Produk 1 adalah FK: berulang.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94760"/>
            <a:ext cx="7955279" cy="77724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Pulpen belum terjual: boleh.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Produk 999 tidak ada: transaksi merujuk 999 ditolak jika FK aktif.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64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8138160" cy="27432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164E63"/>
                </a:solidFill>
                <a:latin typeface="Calibri"/>
              </a:rPr>
              <a:t>BEKAL ERD · MANDIRI DI MINGGU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8138160" cy="59436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73042"/>
                </a:solidFill>
                <a:latin typeface="Georgia"/>
              </a:rPr>
              <a:t>Jenis relasi &amp; cek sebelum menulis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68580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674"/>
                </a:solidFill>
                <a:latin typeface="Calibri"/>
              </a:rPr>
              <a:t>Minggu 6 · Basis Data SQLite &amp;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4800600"/>
            <a:ext cx="457200" cy="22860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r>
              <a:rPr sz="900">
                <a:solidFill>
                  <a:srgbClr val="526674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280160"/>
            <a:ext cx="7955279" cy="2331720"/>
          </a:xfrm>
          <a:prstGeom prst="rect">
            <a:avLst/>
          </a:prstGeom>
          <a:solidFill>
            <a:srgbClr val="F7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1:1 · Satu pegawai ↔ paling banyak satu kartu akses aktif.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1:N · Satu produk ↔ banyak catatan transaksi (praktik kita).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M:N · Banyak nota ↔ banyak produk: perlu detail_transaksi.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73042"/>
                </a:solidFill>
                <a:latin typeface="Calibri"/>
              </a:rPr>
              <a:t>Catatan: skrip kita mencatat satu jenis produk per transaksi.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9039"/>
            <a:ext cx="7955279" cy="868680"/>
          </a:xfrm>
          <a:prstGeom prst="rect">
            <a:avLst/>
          </a:prstGeom>
          <a:noFill/>
        </p:spPr>
        <p:txBody>
          <a:bodyPr wrap="square" tIns="54864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64E63"/>
                </a:solidFill>
                <a:latin typeface="Calibri"/>
              </a:rPr>
              <a:t>Cek: Di mana FK produk–transaksi diletakkan?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164E63"/>
                </a:solidFill>
                <a:latin typeface="Calibri"/>
              </a:rPr>
              <a:t>Apakah produk boleh belum terjual? Jelaskan 0..N.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Minggu 6 — Basis Data SQLite dan CRUD</dc:title>
  <dc:subject>PptxGenJS Presentation</dc:subject>
  <dc:creator>Pemograman Bisnis &amp; Perancangan Sistem Administrasi</dc:creator>
  <cp:lastModifiedBy>Pemograman Bisnis &amp; Perancangan Sistem Administrasi</cp:lastModifiedBy>
  <cp:revision>1</cp:revision>
  <dcterms:created xsi:type="dcterms:W3CDTF">2026-10-04T06:00:18Z</dcterms:created>
  <dcterms:modified xsi:type="dcterms:W3CDTF">2026-10-04T06:00:18Z</dcterms:modified>
</cp:coreProperties>
</file>