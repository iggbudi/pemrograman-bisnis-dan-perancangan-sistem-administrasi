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0" r:id="rId31"/>
    <p:sldId id="281" r:id="rId32"/>
    <p:sldId id="282" r:id="rId33"/>
    <p:sldId id="283" r:id="rId34"/>
    <p:sldId id="284" r:id="rId35"/>
    <p:sldId id="285" r:id="rId36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6" r:id="rId37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13.xml"/><Relationship Id="rId9" Type="http://schemas.openxmlformats.org/officeDocument/2006/relationships/slide" Target="slides/slide14.xml"/><Relationship Id="rId10" Type="http://schemas.openxmlformats.org/officeDocument/2006/relationships/slide" Target="slides/slide15.xml"/><Relationship Id="rId11" Type="http://schemas.openxmlformats.org/officeDocument/2006/relationships/slide" Target="slides/slide16.xml"/><Relationship Id="rId12" Type="http://schemas.openxmlformats.org/officeDocument/2006/relationships/slide" Target="slides/slide17.xml"/><Relationship Id="rId13" Type="http://schemas.openxmlformats.org/officeDocument/2006/relationships/slide" Target="slides/slide18.xml"/><Relationship Id="rId14" Type="http://schemas.openxmlformats.org/officeDocument/2006/relationships/slide" Target="slides/slide19.xml"/><Relationship Id="rId15" Type="http://schemas.openxmlformats.org/officeDocument/2006/relationships/slide" Target="slides/slide20.xml"/><Relationship Id="rId16" Type="http://schemas.openxmlformats.org/officeDocument/2006/relationships/slide" Target="slides/slide21.xml"/><Relationship Id="rId17" Type="http://schemas.openxmlformats.org/officeDocument/2006/relationships/slide" Target="slides/slide22.xml"/><Relationship Id="rId18" Type="http://schemas.openxmlformats.org/officeDocument/2006/relationships/slide" Target="slides/slide23.xml"/><Relationship Id="rId19" Type="http://schemas.openxmlformats.org/officeDocument/2006/relationships/slide" Target="slides/slide24.xml"/><Relationship Id="rId20" Type="http://schemas.openxmlformats.org/officeDocument/2006/relationships/slide" Target="slides/slide25.xml"/><Relationship Id="rId21" Type="http://schemas.openxmlformats.org/officeDocument/2006/relationships/slide" Target="slides/slide27.xml"/><Relationship Id="rId22" Type="http://schemas.openxmlformats.org/officeDocument/2006/relationships/slide" Target="slides/slide28.xml"/><Relationship Id="rId23" Type="http://schemas.openxmlformats.org/officeDocument/2006/relationships/slide" Target="slides/slide29.xml"/><Relationship Id="rId24" Type="http://schemas.openxmlformats.org/officeDocument/2006/relationships/slide" Target="slides/slide30.xml"/><Relationship Id="rId25" Type="http://schemas.openxmlformats.org/officeDocument/2006/relationships/slide" Target="slides/slide31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7.xml"/><Relationship Id="rId32" Type="http://schemas.openxmlformats.org/officeDocument/2006/relationships/slide" Target="slides/slide8.xml"/><Relationship Id="rId33" Type="http://schemas.openxmlformats.org/officeDocument/2006/relationships/slide" Target="slides/slide9.xml"/><Relationship Id="rId34" Type="http://schemas.openxmlformats.org/officeDocument/2006/relationships/slide" Target="slides/slide10.xml"/><Relationship Id="rId35" Type="http://schemas.openxmlformats.org/officeDocument/2006/relationships/slide" Target="slides/slide11.xml"/><Relationship Id="rId36" Type="http://schemas.openxmlformats.org/officeDocument/2006/relationships/slide" Target="slides/slide12.xml"/><Relationship Id="rId37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dengan menyebut tujuan minggu ini: data yang selama ini hilang saat program ditutup, mulai minggu ini akan tersimpan permanen di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Tekankan kesinambungan: ERD diwujudkan, fungsi Minggu 5 tetap dipakai. Senin memakai terminal untuk membuat dan menguji database; Selasa CRUD sudah lewat aplikasi Streamlit, sehingga Minggu 7 dipakai untuk pendalaman.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Bacakan singkat; kembali ke slide ini saat penutupan Selasa untuk cek capaian bersama.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Tanyakan ke kelas: setelah program Minggu 5 ditutup, apakah transaksi kemarin masih ada? Biarkan mahasiswa menyadari masalahnya sendiri.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Hubungkan dengan buku besar di akuntansi dan formulir administrasi yang sudah familiar bagi mahasiswa Administrasi Bisnis.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Jika ada yang bertanya tentang MySQL/XAMPP: SQLite dipilih karena nol instalasi dan cukup untuk aplikasi administrasi skala kecil.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Gunakan ERD pada slide sebelumnya: minta mahasiswa menunjuk entitas, PK, FK, dan sisi banyak. Tidak perlu membuka modul Minggu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Jalankan skrip dua kali di depan kelas untuk menunjukkan IF NOT EXISTS mencegah error 'table already exists'. Skrip lengkap (termasuk data awal) ada di folder kode-praktik.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contoh keputusan rancangan yang sangat 'administrasi bisnis'. Jika ERD mahasiswa belum punya kolom ini, minta mereka menambahkannya.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Tema selain kasir memakai nama file &lt;nama_proyek&gt;.db dengan pola yang sama. Skrip awal hanya mengisi data jika tabel produk masih kosong, jadi aman dijalankan ulang.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Skrip uji_aturan.py melakukan rollback setelah setiap uji, sehingga data yatim dari uji C tidak tersimpan.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pengarah dari outline. Biarkan mahasiswa menjawab dulu sebelum membuka kesimpulan dua lapis.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Pastikan semua mahasiswa sudah menyimpan file .db di folder proyek sebelum kelas berakhir. Ingatkan memasang Streamlit (python -m pip install streamlit) sebelum Selasa; kelas jalur Streamlit Minggu 5 sudah memilikinya.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Ulas singkat tabel yang dibuat Senin sebelum lanjut.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app.py hanya memanggil fungsi database.py; tidak ada SQL di app.py. Kelas yang gagal memasang Streamlit memakai 6.2/kode-dosen/main.py sebagai jalur cadangan dengan database.py yang sama.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cepat: coba nama dengan tanda kutip tunggal pada versi rangkaian teks, lalu tunjukkan error-nya. Versi ? berjalan normal.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pola yang berulang: buka → try → execute → commit → finally close. Semua fungsi CRUD mengikuti pola 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Peringatan WHERE sangat penting. Analoginya: menghapus satu catatan vs membakar seluruh buku besar.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 jawaban hapus_produk ada di 6.2/kode-dosen/database.py. Perhatikan tuple satu elemen: (id_produk,) dengan koma.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Bahan awal 6.2/kode-praktik/app.py: tambah dan tabel sudah jadi; ubah harga (E1) dan hapus (E2) dilengkapi mahasiswa. Kunci di 6.2/kode-dosen/app.py. Kolom harga sengaja tanpa min_value agar CHECK database dapat dibuktikan pada skenario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 awal: Buku Tulis (ID 1, punya transaksi), Pulpen (ID 2), Map Plastik (ID 3). Skenario 4a membuktikan FK melindungi data terkait. Skenario abc versi terminal diganti skenario 5 (nama kosong) karena st.number_input tidak menerima teks. Lanjutkan dengan uji penyimpanan: Ctrl+C lalu jalankan ulang.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Empat kebiasaan ini juga menjadi bagian kriteria penilaian praktikum.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Ingatkan: pakai data simulasi, bukan data pribadi pelanggan nyata.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Penutup: kembali ke slide capaian. Minggu 7 menambah fungsi catat penjualan (mengurangi stok, mencatat harga_satuan) dan laporan omzet dengan LEFT JOIN serta grafik Streamlit.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Jelaskan dari awal, bukan meminta mahasiswa mengingat atau membuka modul Minggu 3. ERD bukan flowchart: fokus pada apa yang dicatat dan hubungan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Tanya: Buku Tulis itu entitas atau isi tabel? Jawaban: isi satu baris. Tabel produk mewakili entitas; tidak membuat tabel sendiri untuk tiap barang.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PK unik dan tidak kosong. FK boleh berulang. Nama tidak dipilih sebagai PK karena dapat sama atau berubah. Kolom id_produk punya peran berbeda pada tabel berbeda. FK pada transaksi ini wajib diisi.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Baca dua arah. Satu produk dapat belum terjual (0) atau muncul pada banyak transaksi (N). Setiap transaksi pada model sederhana ini tepat satu produk; FK NOT NULL. Jelaskan bahwa transaksi di skrip berarti satu catatan penjualan satu jenis produk, bukan satu nota lengkap.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Dua transaksi sama-sama merujuk produk 1, sah karena FK boleh berulang. Produk 2 belum terjual, sah karena minimal nol transaksi. Data ini ilustrasi, bukan instruksi menambah data awal. PK transaksi 1 dan 2 tetap berbeda.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Jawaban cek: FK di transaksi (sisi N); produk boleh belum terjual. Untuk M:N gunakan tabel detail_transaksi, bukan menyimpan daftar ID dalam satu kolom. Model nota lengkap adalah materi lanjutan; jangan ubah skrip dasar minggu ini. Sisipkan pemahaman dalam alokasi 10–25 menit, bukan menambah durasi pertemuan.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Pastikan Streamlit sudah terpasang sebelum kelas; pemasangan saat kelas memakan waktu dan butuh internet. Selalu pakai python -m streamlit agar tidak bergantung pada PATH Windows. Tunjukkan model rerun: tekan tombol, lalu jelaskan bahwa skrip dijalankan ulang dari baris pertama.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0-1.png"/><Relationship Id="rId3" Type="http://schemas.openxmlformats.org/officeDocument/2006/relationships/notesSlide" Target="../notesSlides/notesSlide3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291840" y="0"/>
            <a:ext cx="91440" cy="514350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68680" y="1417320"/>
            <a:ext cx="1554480" cy="1554480"/>
          </a:xfrm>
          <a:prstGeom prst="ellipse">
            <a:avLst/>
          </a:prstGeom>
          <a:solidFill>
            <a:srgbClr val="2C4370"/>
          </a:solidFill>
          <a:ln w="25400">
            <a:solidFill>
              <a:srgbClr val="F2A93B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82880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246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6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840480" y="548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Pemograman Bisnis &amp; Perancangan Sistem Administrasi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0" y="109728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Basis Data SQLite dan Operasi Data Dasar (CRUD)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3840480" y="26974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rancangan tabel menjadi data yang tersimpan, bisa dibaca, diubah, dan dihapus lewat aplikasi Streamlit.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840480" y="3703320"/>
            <a:ext cx="4754880" cy="0"/>
          </a:xfrm>
          <a:prstGeom prst="line">
            <a:avLst/>
          </a:prstGeom>
          <a:noFill/>
          <a:ln w="12700">
            <a:solidFill>
              <a:srgbClr val="C9D8EC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840480" y="37947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ABT-3D · Administrasi Bisnis · Politeknik Negeri Semarang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Senin 16.00–17.30 (KAN 1) · Selasa 14.00–15.30 (KAN3)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329184"/>
            <a:ext cx="292608" cy="54864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68680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PERJALANAN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 mana kita dalam proyek?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6 · Basis Data SQLite &amp; CRUD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1838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>
                <a:solidFill>
                  <a:srgbClr val="526674"/>
                </a:solidFill>
                <a:latin typeface="Calibri"/>
              </a:rPr>
              <a:t>2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43000" y="1645920"/>
            <a:ext cx="548640" cy="5486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78308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2331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Minggu 3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" y="2697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Rancangan basis data (ERD, PK/FK)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152" y="2377440"/>
            <a:ext cx="182880" cy="1828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578608" y="141732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3218688" y="1645920"/>
            <a:ext cx="548640" cy="5486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848" y="17830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670048" y="2331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Minggu 4–5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2715768" y="2697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Logika bisnis Python yang rapi</a:t>
            </a:r>
            <a:endParaRPr lang="en-US" sz="12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377440"/>
            <a:ext cx="182880" cy="18288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654296" y="141732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5"/>
          <p:cNvSpPr/>
          <p:nvPr/>
        </p:nvSpPr>
        <p:spPr>
          <a:xfrm>
            <a:off x="5294376" y="1645920"/>
            <a:ext cx="548640" cy="54864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178308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745736" y="2331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Minggu 6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4791456" y="2697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SQLite + CRUD Streamlit</a:t>
            </a:r>
            <a:endParaRPr lang="en-US" sz="12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2377440"/>
            <a:ext cx="182880" cy="18288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729984" y="141732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7" name="Shape 19"/>
          <p:cNvSpPr/>
          <p:nvPr/>
        </p:nvSpPr>
        <p:spPr>
          <a:xfrm>
            <a:off x="7370064" y="1645920"/>
            <a:ext cx="548640" cy="5486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7224" y="1783080"/>
            <a:ext cx="274320" cy="27432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821424" y="2331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Minggu 7</a:t>
            </a:r>
            <a:endParaRPr lang="en-US" sz="1500" dirty="0"/>
          </a:p>
        </p:txBody>
      </p:sp>
      <p:sp>
        <p:nvSpPr>
          <p:cNvPr id="30" name="Text 21"/>
          <p:cNvSpPr/>
          <p:nvPr/>
        </p:nvSpPr>
        <p:spPr>
          <a:xfrm>
            <a:off x="6867144" y="2697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Pendalaman Streamlit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502920" y="38404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Senin: database lewat skrip terminal. Selasa: CRUD lewat aplikasi Streamlit. Minggu 7 memperdalam Streamlit dengan fitur penjualan dan laporan.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329184"/>
            <a:ext cx="292608" cy="54864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68680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Setelah minggu ini, Anda dapat…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6 · Basis Data SQLite &amp; CRUD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1838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>
                <a:solidFill>
                  <a:srgbClr val="526674"/>
                </a:solidFill>
                <a:latin typeface="Calibri"/>
              </a:rPr>
              <a:t>3</a:t>
            </a:r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280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database dengan analogi lemari arsip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1938528"/>
            <a:ext cx="457200" cy="4572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19385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Menerjemahkan ERD menjadi CREATE TABLE dengan PK, FK, dan CHECK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596896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" y="2596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259689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file kasir.db dan mengisi data awal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255264"/>
            <a:ext cx="457200" cy="4572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25526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Menjalankan CRUD dari aplikasi Streamlit dengan query berparameter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3913632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4864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39136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Membuktikan data tersimpan, berubah, dan terlindungi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329184"/>
            <a:ext cx="292608" cy="54864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68680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1 · SENIN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 mana data kita pergi?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6 · Basis Data SQLite &amp; CRUD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1838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>
                <a:solidFill>
                  <a:srgbClr val="526674"/>
                </a:solidFill>
                <a:latin typeface="Calibri"/>
              </a:rPr>
              <a:t>4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5361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 kasir Minggu 5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7240" y="214884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produk dan transaksi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dihitung dan ditampilkan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ditutup → semua data hilang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709160" y="128016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5087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15361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Kebutuhan bisnis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983480" y="214884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 harus diingat besok pagi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Riwayat transaksi untuk laporan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aman dari isian keliru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02920" y="41148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Jawabannya: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data ke database, bukan hanya di memori program.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329184"/>
            <a:ext cx="292608" cy="54864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68680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= lemari arsip digital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6 · Basis Data SQLite &amp; CRUD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1838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>
                <a:solidFill>
                  <a:srgbClr val="526674"/>
                </a:solidFill>
                <a:latin typeface="Calibri"/>
              </a:rPr>
              <a:t>5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1325880"/>
            <a:ext cx="1874520" cy="29260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15568" y="1554480"/>
            <a:ext cx="640080" cy="640080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  <p:txBody>
          <a:bodyPr/>
          <a:p/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719072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2331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94360" y="2697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Lemari arsip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77240" y="3200400"/>
            <a:ext cx="1325880" cy="0"/>
          </a:xfrm>
          <a:prstGeom prst="line">
            <a:avLst/>
          </a:prstGeom>
          <a:noFill/>
          <a:ln w="12700">
            <a:solidFill>
              <a:srgbClr val="C9D8EC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594360" y="33375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kasir.db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578608" y="1325880"/>
            <a:ext cx="1874520" cy="29260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3191256" y="1554480"/>
            <a:ext cx="640080" cy="640080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  <p:txBody>
          <a:bodyPr/>
          <a:p/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719072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670048" y="2331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Tabel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2670048" y="2697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Buku besar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2852928" y="3200400"/>
            <a:ext cx="1325880" cy="0"/>
          </a:xfrm>
          <a:prstGeom prst="line">
            <a:avLst/>
          </a:prstGeom>
          <a:noFill/>
          <a:ln w="12700">
            <a:solidFill>
              <a:srgbClr val="C9D8EC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2670048" y="33375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produk, transaksi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654296" y="1325880"/>
            <a:ext cx="1874520" cy="29260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Shape 19"/>
          <p:cNvSpPr/>
          <p:nvPr/>
        </p:nvSpPr>
        <p:spPr>
          <a:xfrm>
            <a:off x="5266944" y="1554480"/>
            <a:ext cx="640080" cy="640080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  <p:txBody>
          <a:bodyPr/>
          <a:p/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536" y="1719072"/>
            <a:ext cx="310896" cy="31089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745736" y="2331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Baris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4745736" y="2697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Satu catatan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4928616" y="3200400"/>
            <a:ext cx="1325880" cy="0"/>
          </a:xfrm>
          <a:prstGeom prst="line">
            <a:avLst/>
          </a:prstGeom>
          <a:noFill/>
          <a:ln w="12700">
            <a:solidFill>
              <a:srgbClr val="C9D8EC"/>
            </a:solidFill>
            <a:prstDash val="solid"/>
          </a:ln>
        </p:spPr>
        <p:txBody>
          <a:bodyPr/>
          <a:p/>
        </p:txBody>
      </p:sp>
      <p:sp>
        <p:nvSpPr>
          <p:cNvPr id="28" name="Text 23"/>
          <p:cNvSpPr/>
          <p:nvPr/>
        </p:nvSpPr>
        <p:spPr>
          <a:xfrm>
            <a:off x="4745736" y="33375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Buku Tulis · 5000 · 20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729984" y="1325880"/>
            <a:ext cx="1874520" cy="29260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0" name="Shape 25"/>
          <p:cNvSpPr/>
          <p:nvPr/>
        </p:nvSpPr>
        <p:spPr>
          <a:xfrm>
            <a:off x="7342632" y="1554480"/>
            <a:ext cx="640080" cy="640080"/>
          </a:xfrm>
          <a:prstGeom prst="ellipse">
            <a:avLst/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  <p:txBody>
          <a:bodyPr/>
          <a:p/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4" y="1719072"/>
            <a:ext cx="310896" cy="31089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821424" y="2331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Kolom</a:t>
            </a:r>
            <a:endParaRPr lang="en-US" sz="1800" dirty="0"/>
          </a:p>
        </p:txBody>
      </p:sp>
      <p:sp>
        <p:nvSpPr>
          <p:cNvPr id="33" name="Text 27"/>
          <p:cNvSpPr/>
          <p:nvPr/>
        </p:nvSpPr>
        <p:spPr>
          <a:xfrm>
            <a:off x="6821424" y="2697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Kolom formulir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7004304" y="3200400"/>
            <a:ext cx="1325880" cy="0"/>
          </a:xfrm>
          <a:prstGeom prst="line">
            <a:avLst/>
          </a:prstGeom>
          <a:noFill/>
          <a:ln w="12700">
            <a:solidFill>
              <a:srgbClr val="C9D8EC"/>
            </a:solidFill>
            <a:prstDash val="solid"/>
          </a:ln>
        </p:spPr>
        <p:txBody>
          <a:bodyPr/>
          <a:p/>
        </p:txBody>
      </p:sp>
      <p:sp>
        <p:nvSpPr>
          <p:cNvPr id="35" name="Text 29"/>
          <p:cNvSpPr/>
          <p:nvPr/>
        </p:nvSpPr>
        <p:spPr>
          <a:xfrm>
            <a:off x="6821424" y="33375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nama, harga, stok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329184"/>
            <a:ext cx="292608" cy="54864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68680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 KITA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Kenalan dengan SQLite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6 · Basis Data SQLite &amp; CRUD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1838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>
                <a:solidFill>
                  <a:srgbClr val="526674"/>
                </a:solidFill>
                <a:latin typeface="Calibri"/>
              </a:rPr>
              <a:t>6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4572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02920" y="1280160"/>
            <a:ext cx="91440" cy="86868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77240" y="1371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Satu file saja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16916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database ada di kasir.db. Bisa disalin seperti file biasa.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04288"/>
            <a:ext cx="4572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2920" y="2304288"/>
            <a:ext cx="91440" cy="86868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23957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Tanpa server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27157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perlu memasang MySQL atau menyalakan layanan apa pun.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328416"/>
            <a:ext cx="4572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02920" y="3328416"/>
            <a:ext cx="91440" cy="86868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77240" y="341985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Sudah ada di Python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373989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Cukup import sqlite3. Tidak perlu instalasi tambahan.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94960" y="1280160"/>
            <a:ext cx="3246120" cy="2807208"/>
          </a:xfrm>
          <a:prstGeom prst="roundRect">
            <a:avLst>
              <a:gd name="adj" fmla="val 2606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577840" y="1417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Cara kita memakainya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77840" y="182880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SQL dijalankan lewat skrip Python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Opsional: ekstensi VS Code “SQLite Viewer” untuk melihat isi tabel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sqlite3 terpisah tidak dipakai (biasanya tidak ada di Windows)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8138160" cy="2743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164E63"/>
                </a:solidFill>
                <a:latin typeface="Calibri"/>
              </a:rPr>
              <a:t>BEKAL ERD · MANDIRI DI MINGGU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8138160" cy="5943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800"/>
              </a:spcAft>
            </a:pPr>
            <a:r>
              <a:rPr sz="2500" b="1">
                <a:solidFill>
                  <a:srgbClr val="173042"/>
                </a:solidFill>
                <a:latin typeface="Georgia"/>
              </a:rPr>
              <a:t>ERD = peta data sebelum membuat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00600"/>
            <a:ext cx="6858000" cy="22860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526674"/>
                </a:solidFill>
                <a:latin typeface="Calibri"/>
              </a:rPr>
              <a:t>Minggu 6 · Basis Data SQLite &amp; CRUD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4800600"/>
            <a:ext cx="457200" cy="22860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r>
              <a:rPr sz="900">
                <a:solidFill>
                  <a:srgbClr val="526674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7955279" cy="77724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173042"/>
                </a:solidFill>
                <a:latin typeface="Calibri"/>
              </a:rPr>
              <a:t>Entity Relationship Diagram menunjukkan apa yang dicatat, informasi yang disimpan, dan hubungan antarcatatan.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423160"/>
            <a:ext cx="3703320" cy="1463040"/>
          </a:xfrm>
          <a:prstGeom prst="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spcAft>
                <a:spcPts val="800"/>
              </a:spcAft>
            </a:pPr>
            <a:r>
              <a:rPr sz="2000" b="0">
                <a:solidFill>
                  <a:srgbClr val="173042"/>
                </a:solidFill>
                <a:latin typeface="Calibri"/>
              </a:rPr>
              <a:t>BUKU DAFTAR PRODUK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73042"/>
                </a:solidFill>
                <a:latin typeface="Calibri"/>
              </a:rPr>
              <a:t>Nama barang, harga, stok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2423160"/>
            <a:ext cx="3931920" cy="1463040"/>
          </a:xfrm>
          <a:prstGeom prst="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spcAft>
                <a:spcPts val="800"/>
              </a:spcAft>
            </a:pPr>
            <a:r>
              <a:rPr sz="2000" b="0">
                <a:solidFill>
                  <a:srgbClr val="173042"/>
                </a:solidFill>
                <a:latin typeface="Calibri"/>
              </a:rPr>
              <a:t>BUKU CATATAN PENJUALAN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73042"/>
                </a:solidFill>
                <a:latin typeface="Calibri"/>
              </a:rPr>
              <a:t>Produk apa, kapan, berapa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114800"/>
            <a:ext cx="7955279" cy="45720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C56A32"/>
                </a:solidFill>
                <a:latin typeface="Calibri"/>
              </a:rPr>
              <a:t>ERD bukan urutan klik atau langkah program.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8138160" cy="2743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164E63"/>
                </a:solidFill>
                <a:latin typeface="Calibri"/>
              </a:rPr>
              <a:t>BEKAL ERD · MANDIRI DI MINGGU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8138160" cy="5943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800"/>
              </a:spcAft>
            </a:pPr>
            <a:r>
              <a:rPr sz="2500" b="1">
                <a:solidFill>
                  <a:srgbClr val="173042"/>
                </a:solidFill>
                <a:latin typeface="Georgia"/>
              </a:rPr>
              <a:t>Empat istilah dengan contoh kasir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00600"/>
            <a:ext cx="6858000" cy="22860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526674"/>
                </a:solidFill>
                <a:latin typeface="Calibri"/>
              </a:rPr>
              <a:t>Minggu 6 · Basis Data SQLite &amp; CRUD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4800600"/>
            <a:ext cx="457200" cy="22860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r>
              <a:rPr sz="900">
                <a:solidFill>
                  <a:srgbClr val="526674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1828800" cy="54864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64E63"/>
                </a:solidFill>
                <a:latin typeface="Calibri"/>
              </a:rPr>
              <a:t>ENTITAS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325880"/>
            <a:ext cx="5943600" cy="5943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73042"/>
                </a:solidFill>
                <a:latin typeface="Calibri"/>
              </a:rPr>
              <a:t>Jenis yang dicatat → tabel: produk, transaksi.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1828800" cy="54864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64E63"/>
                </a:solidFill>
                <a:latin typeface="Calibri"/>
              </a:rPr>
              <a:t>ATRIBUT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057400"/>
            <a:ext cx="5943600" cy="5943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73042"/>
                </a:solidFill>
                <a:latin typeface="Calibri"/>
              </a:rPr>
              <a:t>Keterangan → kolom: nama, harga, stok.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88920"/>
            <a:ext cx="1828800" cy="54864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64E63"/>
                </a:solidFill>
                <a:latin typeface="Calibri"/>
              </a:rPr>
              <a:t>BARIS /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788920"/>
            <a:ext cx="5943600" cy="5943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73042"/>
                </a:solidFill>
                <a:latin typeface="Calibri"/>
              </a:rPr>
              <a:t>Satu catatan nyata: Buku Tulis, 5000, stok 20.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20440"/>
            <a:ext cx="1828800" cy="54864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64E63"/>
                </a:solidFill>
                <a:latin typeface="Calibri"/>
              </a:rPr>
              <a:t>RELASI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520440"/>
            <a:ext cx="5943600" cy="5943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73042"/>
                </a:solidFill>
                <a:latin typeface="Calibri"/>
              </a:rPr>
              <a:t>Hubungan: produk tercatat dalam transaksi.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251960"/>
            <a:ext cx="7955279" cy="3657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C56A32"/>
                </a:solidFill>
                <a:latin typeface="Calibri"/>
              </a:rPr>
              <a:t>“produk” adalah entitas; “Buku Tulis” adalah isi baris.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8138160" cy="2743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164E63"/>
                </a:solidFill>
                <a:latin typeface="Calibri"/>
              </a:rPr>
              <a:t>BEKAL ERD · MANDIRI DI MINGGU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8138160" cy="5943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800"/>
              </a:spcAft>
            </a:pPr>
            <a:r>
              <a:rPr sz="2500" b="1">
                <a:solidFill>
                  <a:srgbClr val="173042"/>
                </a:solidFill>
                <a:latin typeface="Georgia"/>
              </a:rPr>
              <a:t>PK = identitas · FK = rujukan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00600"/>
            <a:ext cx="6858000" cy="22860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526674"/>
                </a:solidFill>
                <a:latin typeface="Calibri"/>
              </a:rPr>
              <a:t>Minggu 6 · Basis Data SQLite &amp; CRUD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4800600"/>
            <a:ext cx="457200" cy="22860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r>
              <a:rPr sz="900">
                <a:solidFill>
                  <a:srgbClr val="526674"/>
                </a:solidFill>
                <a:latin typeface="Calibr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3703320" cy="2468880"/>
          </a:xfrm>
          <a:prstGeom prst="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spcAft>
                <a:spcPts val="800"/>
              </a:spcAft>
            </a:pPr>
            <a:r>
              <a:rPr sz="1900" b="0">
                <a:solidFill>
                  <a:srgbClr val="173042"/>
                </a:solidFill>
                <a:latin typeface="Calibri"/>
              </a:rPr>
              <a:t>PRIMARY KEY (PK)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73042"/>
                </a:solidFill>
                <a:latin typeface="Calibri"/>
              </a:rPr>
              <a:t>Nomor unik setiap catatan.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73042"/>
                </a:solidFill>
                <a:latin typeface="Calibri"/>
              </a:rPr>
              <a:t>produk.id_produk = 1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73042"/>
                </a:solidFill>
                <a:latin typeface="Calibri"/>
              </a:rPr>
              <a:t>Tidak boleh kembar / kosong.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371600"/>
            <a:ext cx="3931920" cy="2468880"/>
          </a:xfrm>
          <a:prstGeom prst="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spcAft>
                <a:spcPts val="800"/>
              </a:spcAft>
            </a:pPr>
            <a:r>
              <a:rPr sz="1900" b="0">
                <a:solidFill>
                  <a:srgbClr val="173042"/>
                </a:solidFill>
                <a:latin typeface="Calibri"/>
              </a:rPr>
              <a:t>FOREIGN KEY (FK)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73042"/>
                </a:solidFill>
                <a:latin typeface="Calibri"/>
              </a:rPr>
              <a:t>Nomor yang merujuk tabel lain.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73042"/>
                </a:solidFill>
                <a:latin typeface="Calibri"/>
              </a:rPr>
              <a:t>transaksi.id_produk = 1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73042"/>
                </a:solidFill>
                <a:latin typeface="Calibri"/>
              </a:rPr>
              <a:t>Boleh berulang antartransaksi.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023360"/>
            <a:ext cx="7955279" cy="54864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164E63"/>
                </a:solidFill>
                <a:latin typeface="Calibri"/>
              </a:rPr>
              <a:t>produk.id_produk (PK) ← transaksi.id_produk (FK)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8138160" cy="2743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164E63"/>
                </a:solidFill>
                <a:latin typeface="Calibri"/>
              </a:rPr>
              <a:t>BEKAL ERD · MANDIRI DI MINGGU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8138160" cy="5943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800"/>
              </a:spcAft>
            </a:pPr>
            <a:r>
              <a:rPr sz="2500" b="1">
                <a:solidFill>
                  <a:srgbClr val="173042"/>
                </a:solidFill>
                <a:latin typeface="Georgia"/>
              </a:rPr>
              <a:t>Relasi 1:N · satu produk, banyak transaksi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00600"/>
            <a:ext cx="6858000" cy="22860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526674"/>
                </a:solidFill>
                <a:latin typeface="Calibri"/>
              </a:rPr>
              <a:t>Minggu 6 · Basis Data SQLite &amp; CRUD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4800600"/>
            <a:ext cx="457200" cy="22860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r>
              <a:rPr sz="900">
                <a:solidFill>
                  <a:srgbClr val="526674"/>
                </a:solidFill>
                <a:latin typeface="Calibr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3063240" cy="2423160"/>
          </a:xfrm>
          <a:prstGeom prst="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spcAft>
                <a:spcPts val="800"/>
              </a:spcAft>
            </a:pPr>
            <a:r>
              <a:rPr sz="1900" b="0">
                <a:solidFill>
                  <a:srgbClr val="173042"/>
                </a:solidFill>
                <a:latin typeface="Calibri"/>
              </a:rPr>
              <a:t>PRODUK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73042"/>
                </a:solidFill>
                <a:latin typeface="Calibri"/>
              </a:rPr>
              <a:t>PK id_produk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73042"/>
                </a:solidFill>
                <a:latin typeface="Calibri"/>
              </a:rPr>
              <a:t>nama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73042"/>
                </a:solidFill>
                <a:latin typeface="Calibri"/>
              </a:rPr>
              <a:t>harga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73042"/>
                </a:solidFill>
                <a:latin typeface="Calibri"/>
              </a:rPr>
              <a:t>stok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1325880"/>
            <a:ext cx="3246120" cy="2423160"/>
          </a:xfrm>
          <a:prstGeom prst="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spcAft>
                <a:spcPts val="800"/>
              </a:spcAft>
            </a:pPr>
            <a:r>
              <a:rPr sz="1900" b="0">
                <a:solidFill>
                  <a:srgbClr val="173042"/>
                </a:solidFill>
                <a:latin typeface="Calibri"/>
              </a:rPr>
              <a:t>TRANSAKSI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73042"/>
                </a:solidFill>
                <a:latin typeface="Calibri"/>
              </a:rPr>
              <a:t>PK id_transaksi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73042"/>
                </a:solidFill>
                <a:latin typeface="Calibri"/>
              </a:rPr>
              <a:t>tanggal · FK id_produk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73042"/>
                </a:solidFill>
                <a:latin typeface="Calibri"/>
              </a:rPr>
              <a:t>jumlah · harga_satuan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965960"/>
            <a:ext cx="1508760" cy="114300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64E63"/>
                </a:solidFill>
                <a:latin typeface="Calibri"/>
              </a:rPr>
              <a:t>1 : N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64E63"/>
                </a:solidFill>
                <a:latin typeface="Calibri"/>
              </a:rPr>
              <a:t>FK di sisi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86200"/>
            <a:ext cx="7955279" cy="68580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73042"/>
                </a:solidFill>
                <a:latin typeface="Calibri"/>
              </a:rPr>
              <a:t>Satu produk → 0..N catatan transaksi.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73042"/>
                </a:solidFill>
                <a:latin typeface="Calibri"/>
              </a:rPr>
              <a:t>Setiap transaksi → tepat 1 produk yang 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8138160" cy="2743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164E63"/>
                </a:solidFill>
                <a:latin typeface="Calibri"/>
              </a:rPr>
              <a:t>BEKAL ERD · MANDIRI DI MINGGU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8138160" cy="5943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800"/>
              </a:spcAft>
            </a:pPr>
            <a:r>
              <a:rPr sz="2500" b="1">
                <a:solidFill>
                  <a:srgbClr val="173042"/>
                </a:solidFill>
                <a:latin typeface="Georgia"/>
              </a:rPr>
              <a:t>Buktikan hubungan lewat data kecil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00600"/>
            <a:ext cx="6858000" cy="22860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526674"/>
                </a:solidFill>
                <a:latin typeface="Calibri"/>
              </a:rPr>
              <a:t>Minggu 6 · Basis Data SQLite &amp; CRUD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4800600"/>
            <a:ext cx="457200" cy="22860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r>
              <a:rPr sz="900">
                <a:solidFill>
                  <a:srgbClr val="526674"/>
                </a:solidFill>
                <a:latin typeface="Calibr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3703320" cy="2286000"/>
          </a:xfrm>
          <a:prstGeom prst="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spcAft>
                <a:spcPts val="800"/>
              </a:spcAft>
            </a:pPr>
            <a:r>
              <a:rPr sz="1800" b="0">
                <a:solidFill>
                  <a:srgbClr val="173042"/>
                </a:solidFill>
                <a:latin typeface="Calibri"/>
              </a:rPr>
              <a:t>PRODUK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73042"/>
                </a:solidFill>
                <a:latin typeface="Calibri"/>
              </a:rPr>
              <a:t>ID 1 · Buku Tulis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73042"/>
                </a:solidFill>
                <a:latin typeface="Calibri"/>
              </a:rPr>
              <a:t>ID 2 · Pulpen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73042"/>
                </a:solidFill>
                <a:latin typeface="Calibri"/>
              </a:rPr>
              <a:t>ID adalah PK: unik.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325880"/>
            <a:ext cx="3931920" cy="2286000"/>
          </a:xfrm>
          <a:prstGeom prst="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spcAft>
                <a:spcPts val="800"/>
              </a:spcAft>
            </a:pPr>
            <a:r>
              <a:rPr sz="1800" b="0">
                <a:solidFill>
                  <a:srgbClr val="173042"/>
                </a:solidFill>
                <a:latin typeface="Calibri"/>
              </a:rPr>
              <a:t>TRANSAKSI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73042"/>
                </a:solidFill>
                <a:latin typeface="Calibri"/>
              </a:rPr>
              <a:t>ID 1 → produk 1 · jumlah 2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73042"/>
                </a:solidFill>
                <a:latin typeface="Calibri"/>
              </a:rPr>
              <a:t>ID 2 → produk 1 · jumlah 1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73042"/>
                </a:solidFill>
                <a:latin typeface="Calibri"/>
              </a:rPr>
              <a:t>Produk 1 adalah FK: berulang.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794760"/>
            <a:ext cx="7955279" cy="77724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73042"/>
                </a:solidFill>
                <a:latin typeface="Calibri"/>
              </a:rPr>
              <a:t>Pulpen belum terjual: boleh.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73042"/>
                </a:solidFill>
                <a:latin typeface="Calibri"/>
              </a:rPr>
              <a:t>Produk 999 tidak ada: transaksi merujuk 999 ditolak jika FK aktif.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8138160" cy="2743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164E63"/>
                </a:solidFill>
                <a:latin typeface="Calibri"/>
              </a:rPr>
              <a:t>BEKAL ERD · MANDIRI DI MINGGU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8138160" cy="5943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800"/>
              </a:spcAft>
            </a:pPr>
            <a:r>
              <a:rPr sz="2500" b="1">
                <a:solidFill>
                  <a:srgbClr val="173042"/>
                </a:solidFill>
                <a:latin typeface="Georgia"/>
              </a:rPr>
              <a:t>Jenis relasi &amp; cek sebelum menulis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00600"/>
            <a:ext cx="6858000" cy="22860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800"/>
              </a:spcAft>
            </a:pPr>
            <a:r>
              <a:rPr sz="900" b="0">
                <a:solidFill>
                  <a:srgbClr val="526674"/>
                </a:solidFill>
                <a:latin typeface="Calibri"/>
              </a:rPr>
              <a:t>Minggu 6 · Basis Data SQLite &amp; CRUD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4800600"/>
            <a:ext cx="457200" cy="22860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r>
              <a:rPr sz="900">
                <a:solidFill>
                  <a:srgbClr val="526674"/>
                </a:solidFill>
                <a:latin typeface="Calibr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80160"/>
            <a:ext cx="7955279" cy="2331720"/>
          </a:xfrm>
          <a:prstGeom prst="rect">
            <a:avLst/>
          </a:prstGeom>
          <a:solidFill>
            <a:srgbClr val="F7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spcAft>
                <a:spcPts val="800"/>
              </a:spcAft>
            </a:pPr>
            <a:r>
              <a:rPr sz="1700" b="0">
                <a:solidFill>
                  <a:srgbClr val="173042"/>
                </a:solidFill>
                <a:latin typeface="Calibri"/>
              </a:rPr>
              <a:t>1:1 · Satu pegawai ↔ paling banyak satu kartu akses aktif.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73042"/>
                </a:solidFill>
                <a:latin typeface="Calibri"/>
              </a:rPr>
              <a:t>1:N · Satu produk ↔ banyak catatan transaksi (praktik kita).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73042"/>
                </a:solidFill>
                <a:latin typeface="Calibri"/>
              </a:rPr>
              <a:t>M:N · Banyak nota ↔ banyak produk: perlu detail_transaksi.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73042"/>
                </a:solidFill>
                <a:latin typeface="Calibri"/>
              </a:rPr>
              <a:t>Catatan: skrip kita mencatat satu jenis produk per transaksi.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749039"/>
            <a:ext cx="7955279" cy="86868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164E63"/>
                </a:solidFill>
                <a:latin typeface="Calibri"/>
              </a:rPr>
              <a:t>Cek: Di mana FK produk–transaksi diletakkan?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164E63"/>
                </a:solidFill>
                <a:latin typeface="Calibri"/>
              </a:rPr>
              <a:t>Apakah produk boleh belum terjual? Jelaskan 0..N.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329184"/>
            <a:ext cx="292608" cy="54864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68680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MENERJEMAHKAN RANCANGAN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Dari ERD ke tabel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6 · Basis Data SQLite &amp; CRUD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1838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>
                <a:solidFill>
                  <a:srgbClr val="526674"/>
                </a:solidFill>
                <a:latin typeface="Calibri"/>
              </a:rPr>
              <a:t>13</a:t>
            </a: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54864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92024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 ERD (contoh di sini)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 database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Contoh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43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produk, transaksi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Kolom + tipe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43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nama TEXT, harga INTEGER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43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id_produk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Relasi 1:N → FK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 … REFERENCES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43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transaksi.id_produk → produk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Aturan bisnis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NULL, CHECK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43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harga &gt; 0, jumlah &gt; 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263640" y="1234440"/>
            <a:ext cx="2377440" cy="2468880"/>
          </a:xfrm>
          <a:prstGeom prst="roundRect">
            <a:avLst>
              <a:gd name="adj" fmla="val 3077"/>
            </a:avLst>
          </a:prstGeom>
          <a:solidFill>
            <a:srgbClr val="FDF1DC"/>
          </a:solidFill>
          <a:ln w="12700">
            <a:solidFill>
              <a:srgbClr val="F2A93B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400800" y="13533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Tipe data kita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0" y="18288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bulat: harga rupiah, stok, ID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teks: nama, tanggal 'YYYY-MM-DD'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40233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Rupiah disimpan sebagai angka bulat (INTEGER), bukan float.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329184"/>
            <a:ext cx="292608" cy="54864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68680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DOSEN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Skrip awal: buat_database.py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6 · Basis Data SQLite &amp; CRUD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1838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>
                <a:solidFill>
                  <a:srgbClr val="526674"/>
                </a:solidFill>
                <a:latin typeface="Calibri"/>
              </a:rPr>
              <a:t>14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1188720"/>
            <a:ext cx="5577840" cy="3474720"/>
          </a:xfrm>
          <a:prstGeom prst="roundRect">
            <a:avLst>
              <a:gd name="adj" fmla="val 1579"/>
            </a:avLst>
          </a:prstGeom>
          <a:solidFill>
            <a:srgbClr val="15213B"/>
          </a:solidFill>
          <a:ln w="12700">
            <a:solidFill>
              <a:srgbClr val="15213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67512" y="1280160"/>
            <a:ext cx="5303520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sqlite3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koneksi = sqlite3.connect("kasir.db")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koneksi.execute("PRAGMA foreign_keys = ON")   </a:t>
            </a:r>
            <a:pPr indent="0" marL="0">
              <a:buNone/>
            </a:pPr>
            <a:r>
              <a:rPr lang="en-US" sz="950" dirty="0">
                <a:solidFill>
                  <a:srgbClr val="F5C7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wajib!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koneksi.executescript("""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IF NOT EXISTS produk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id_produk  INTEGER PRIMARY KEY AUTOINCREMENT,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nama       TEXT   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harga      INTEGER NOT NULL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CHECK (typeof(harga) = 'integer' AND harga &gt; 0),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stok       INTEGER NOT NULL DEFAULT 0 CHECK (stok &gt;= 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IF NOT EXISTS transaksi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id_transaksi INTEGER PRIMARY KEY AUTOINCREMENT,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tanggal      TEXT    NOT NULL,     </a:t>
            </a:r>
            <a:pPr indent="0" marL="0">
              <a:buNone/>
            </a:pPr>
            <a:r>
              <a:rPr lang="en-US" sz="950" dirty="0">
                <a:solidFill>
                  <a:srgbClr val="F5C7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'YYYY-MM-DD'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id_produk    INTEGER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jumlah       INTEGER NOT NULL CHECK (jumlah &gt; 0),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harga_satuan INTEGER NOT NULL,     </a:t>
            </a:r>
            <a:pPr indent="0" marL="0">
              <a:buNone/>
            </a:pPr>
            <a:r>
              <a:rPr lang="en-US" sz="950" dirty="0">
                <a:solidFill>
                  <a:srgbClr val="F5C7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harga saat transaksi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FOREIGN KEY (id_produk) REFERENCES produk(id_produk)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309360" y="118872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46520" y="12618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PRAGMA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151790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Menyalakan penjaga relasi (FK)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205740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46520" y="21305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EXISTS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238658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dijalankan berkali-kali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292608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46520" y="29992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46520" y="32552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isian: harga angka bulat &gt; 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379476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46520" y="38679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FOREIGN KEY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412394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 wajib merujuk produk yang ada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329184"/>
            <a:ext cx="292608" cy="54864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68680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RANCANGAN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Mengapa transaksi mencatat harga?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6 · Basis Data SQLite &amp; CRUD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1838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>
                <a:solidFill>
                  <a:srgbClr val="526674"/>
                </a:solidFill>
                <a:latin typeface="Calibri"/>
              </a:rPr>
              <a:t>15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5361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Analogi nota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7240" y="21488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daftar harga toko naik, nota pelanggan bulan lalu tidak ikut diganti. Nota mencatat harga pada hari transaksi.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80160"/>
          <a:ext cx="39776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325880"/>
                <a:gridCol w="13258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Tanpa harga_satuan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Dengan harga_satuan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Harga Buku Tulis naik 5000 → 6000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Nilai transaksi lama ikut berubah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Transaksi lama tetap 5000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Laporan omzet bulan lalu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329184"/>
            <a:ext cx="292608" cy="54864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68680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MENIT 40–65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Praktik: bangun database proyek Anda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6 · Basis Data SQLite &amp; CRUD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1838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>
                <a:solidFill>
                  <a:srgbClr val="526674"/>
                </a:solidFill>
                <a:latin typeface="Calibri"/>
              </a:rPr>
              <a:t>16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1325880"/>
            <a:ext cx="1874520" cy="22860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Salin skrip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buat_database.py dari dosen ke folder proyek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78608" y="1325880"/>
            <a:ext cx="1874520" cy="22860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715768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715768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Sesuaikan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15768" y="24688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Rancang di A1, lalu tambah satu tabel berelasi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54296" y="1325880"/>
            <a:ext cx="1874520" cy="22860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791456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791456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Isi data awal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91456" y="24688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baris contoh dengan INSERT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29984" y="1325880"/>
            <a:ext cx="1874520" cy="22860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867144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867144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Jalankan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67144" y="24688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buat_database.py, lalu cek file kasir.db muncul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840480"/>
            <a:ext cx="8138160" cy="685800"/>
          </a:xfrm>
          <a:prstGeom prst="roundRect">
            <a:avLst>
              <a:gd name="adj" fmla="val 10667"/>
            </a:avLst>
          </a:prstGeom>
          <a:solidFill>
            <a:srgbClr val="E3F4EC"/>
          </a:solidFill>
          <a:ln w="12700">
            <a:solidFill>
              <a:srgbClr val="2E9E6B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023360"/>
            <a:ext cx="320040" cy="3200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143000" y="3886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CEK: terminal menulis “Database dan tabel siap.” dan file kasir.db (atau &lt;nama_proyek&gt;.db) ada di folder proyek.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329184"/>
            <a:ext cx="292608" cy="54864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68680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MENIT 65–85 · UJI_ATURAN.PY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Uji penjaga: apakah database menolak?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6 · Basis Data SQLite &amp; CRUD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1838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>
                <a:solidFill>
                  <a:srgbClr val="526674"/>
                </a:solidFill>
                <a:latin typeface="Calibri"/>
              </a:rPr>
              <a:t>17</a:t>
            </a:r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81381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657600"/>
                <a:gridCol w="38404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Uji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Yang dicoba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Hasil yang diharapkan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Harga diisi teks 'seribu'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DITOLAK · CHECK constraint failed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Transaksi untuk produk ID 999 (tidak ada)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DITOLAK · FOREIGN KEY constraint failed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Sama seperti B, tetapi tanpa PRAGMA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DITERIMA · relasi tidak dijaga!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3429000"/>
            <a:ext cx="8138160" cy="960120"/>
          </a:xfrm>
          <a:prstGeom prst="roundRect">
            <a:avLst>
              <a:gd name="adj" fmla="val 7619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3493008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Pelajaran dari uji C: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SQLite, penjaga relasi mati secara bawaan. Baris PRAGMA foreign_keys = ON harus ada di setiap koneksi.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329184"/>
            <a:ext cx="292608" cy="54864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68680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Siapa menjaga pintu masuk data?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6 · Basis Data SQLite &amp; CRUD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1838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>
                <a:solidFill>
                  <a:srgbClr val="526674"/>
                </a:solidFill>
                <a:latin typeface="Calibri"/>
              </a:rPr>
              <a:t>18</a:t>
            </a:r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aturan CHECK, SQLite sebenarnya mau menyimpan teks “seribu” di kolom angka. SQLite longgar soal tipe data.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397764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02920" y="1920240"/>
            <a:ext cx="3977640" cy="91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2240280"/>
            <a:ext cx="594360" cy="59436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388870"/>
            <a:ext cx="297180" cy="2971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08760" y="22860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Lapis 1 · Python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77240" y="30175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C4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int(input(...)) + try/except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Menolak isian keliru sebelum dikirim, dengan pesan ramah.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63440" y="1920240"/>
            <a:ext cx="397764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663440" y="1920240"/>
            <a:ext cx="3977640" cy="9144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4937760" y="2240280"/>
            <a:ext cx="594360" cy="59436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2388870"/>
            <a:ext cx="297180" cy="2971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669280" y="22860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Lapis 2 · Database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937760" y="30175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C4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NULL, CHECK, FOREIGN KEY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Penjaga terakhir, walaupun ada program lain yang lupa memvalidasi.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329184"/>
            <a:ext cx="292608" cy="54864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68680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 PERTEMUAN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Rangkuman Senin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6 · Basis Data SQLite &amp; CRUD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1838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>
                <a:solidFill>
                  <a:srgbClr val="526674"/>
                </a:solidFill>
                <a:latin typeface="Calibri"/>
              </a:rPr>
              <a:t>19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1325880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53896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1325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menyimpan data walaupun program ditutup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2057400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85416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20574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 FK, dan CHECK adalah aturan bisnis yang dijaga database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02920" y="2788920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16936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27889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 foreign_keys = ON wajib di setiap koneksi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502920" y="3520440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648456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35204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kasir.db, buat_database.py, dan pasang Streamlit sebelum Selasa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828800"/>
            <a:ext cx="548640" cy="73152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2 · SELASA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20574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CRUD lewat aplikasi Streamlit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· Read · Update · Delete — app.py memanggil database.py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329184"/>
            <a:ext cx="292608" cy="54864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68680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PROYEK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Satu tugas, satu file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6 · Basis Data SQLite &amp; CRUD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1838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>
                <a:solidFill>
                  <a:srgbClr val="526674"/>
                </a:solidFill>
                <a:latin typeface="Calibri"/>
              </a:rPr>
              <a:t>21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132588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02920" y="1325880"/>
            <a:ext cx="2560320" cy="91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490472" y="1600200"/>
            <a:ext cx="585216" cy="585216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6776" y="1746504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436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" y="2651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Streamlit: form, tombol, tabel (BARU)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73552" y="132588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3273552" y="1325880"/>
            <a:ext cx="2560320" cy="91440"/>
          </a:xfrm>
          <a:prstGeom prst="rect">
            <a:avLst/>
          </a:prstGeom>
          <a:solidFill>
            <a:srgbClr val="2C4370"/>
          </a:solidFill>
          <a:ln w="12700">
            <a:solidFill>
              <a:srgbClr val="2C4370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261104" y="1600200"/>
            <a:ext cx="585216" cy="585216"/>
          </a:xfrm>
          <a:prstGeom prst="ellipse">
            <a:avLst/>
          </a:prstGeom>
          <a:solidFill>
            <a:srgbClr val="2C4370"/>
          </a:solidFill>
          <a:ln w="12700">
            <a:solidFill>
              <a:srgbClr val="2C4370"/>
            </a:solidFill>
            <a:prstDash val="solid"/>
          </a:ln>
        </p:spPr>
        <p:txBody>
          <a:bodyPr/>
          <a:p/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746504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64992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logika_bisnis.py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410712" y="2651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 subtotal &amp; diskon (Minggu 5)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044184" y="132588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6044184" y="1325880"/>
            <a:ext cx="2560320" cy="9144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7031736" y="1600200"/>
            <a:ext cx="585216" cy="585216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746504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135624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database.py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181344" y="2651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&amp; ambil data (BARU)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02920" y="3520440"/>
            <a:ext cx="8138160" cy="868680"/>
          </a:xfrm>
          <a:prstGeom prst="roundRect">
            <a:avLst>
              <a:gd name="adj" fmla="val 8421"/>
            </a:avLst>
          </a:prstGeom>
          <a:solidFill>
            <a:srgbClr val="FDF1DC"/>
          </a:solidFill>
          <a:ln w="12700">
            <a:solidFill>
              <a:srgbClr val="F2A93B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7" name="Text 22"/>
          <p:cNvSpPr/>
          <p:nvPr/>
        </p:nvSpPr>
        <p:spPr>
          <a:xfrm>
            <a:off x="731520" y="35661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bisa memasang Streamlit?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Pakai jalur cadangan main.py (menu terminal). database.py-nya sama persis; hanya tampilannya yang berbeda.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329184"/>
            <a:ext cx="292608" cy="54864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68680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BERPARAMETER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Selalu pakai tanda tanya ( ? 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6 · Basis Data SQLite &amp; CRUD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1838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>
                <a:solidFill>
                  <a:srgbClr val="526674"/>
                </a:solidFill>
                <a:latin typeface="Calibri"/>
              </a:rPr>
              <a:t>22</a:t>
            </a:r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86968" y="1234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Jangan: merangkai teks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1645920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15213B"/>
          </a:solidFill>
          <a:ln w="12700">
            <a:solidFill>
              <a:srgbClr val="15213B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67512" y="1737360"/>
            <a:ext cx="7863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= "INSERT INTO produk (nama) VALUES ('" + nama + "')"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cursor.execute(sql)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86968" y="2560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Lakukan: kirim nilai sebagai parameter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02920" y="297180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15213B"/>
          </a:solidFill>
          <a:ln w="12700">
            <a:solidFill>
              <a:srgbClr val="15213B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667512" y="3063240"/>
            <a:ext cx="7863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koneksi.execute(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"INSERT INTO produk (nama, harga, stok) VALUES (?, ?, ?)",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(nama, harga, stok),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02920" y="40690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seperti Toko Pak D'Arso tidak merusak perintah, dan isian jahat tidak bisa menyusup jadi perintah SQL.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329184"/>
            <a:ext cx="292608" cy="54864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68680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DOSEN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database.py: koneksi dan tambah data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6 · Basis Data SQLite &amp; CRUD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1838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>
                <a:solidFill>
                  <a:srgbClr val="526674"/>
                </a:solidFill>
                <a:latin typeface="Calibri"/>
              </a:rPr>
              <a:t>23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1188720"/>
            <a:ext cx="5394960" cy="3474720"/>
          </a:xfrm>
          <a:prstGeom prst="roundRect">
            <a:avLst>
              <a:gd name="adj" fmla="val 1579"/>
            </a:avLst>
          </a:prstGeom>
          <a:solidFill>
            <a:srgbClr val="15213B"/>
          </a:solidFill>
          <a:ln w="12700">
            <a:solidFill>
              <a:srgbClr val="15213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67512" y="12618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database.py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67512" y="1481328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sqlite3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NAMA_DB = "kasir.db"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buka_koneksi():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koneksi = sqlite3.connect(NAMA_DB)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koneksi.execute("PRAGMA foreign_keys = ON")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koneksi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tambah_produk(nama, harga, stok):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koneksi = buka_koneksi()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koneksi.execute(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"INSERT INTO produk (nama, harga, stok) VALUES (?, ?, ?)",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(nama, harga, stok),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koneksi.commit()        </a:t>
            </a:r>
            <a:pPr indent="0" marL="0">
              <a:buNone/>
            </a:pPr>
            <a:r>
              <a:rPr lang="en-US" sz="950" dirty="0">
                <a:solidFill>
                  <a:srgbClr val="F5C7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simpan permanen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finally: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koneksi.close()         </a:t>
            </a:r>
            <a:pPr indent="0" marL="0">
              <a:buNone/>
            </a:pPr>
            <a:r>
              <a:rPr lang="en-US" sz="950" dirty="0">
                <a:solidFill>
                  <a:srgbClr val="F5C7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selalu ditutup, walau error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6364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buka_koneksi()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6364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tempat untuk PRAGMA, jadi tidak lupa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2176272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263640" y="2267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commit()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2542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commit, perubahan hilang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3163824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263640" y="32552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/ finally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352958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.db tidak terkunci saat error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41605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Catatan: with sqlite3.connect(...) hanya mengurus commit, tidak menutup koneksi.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329184"/>
            <a:ext cx="292608" cy="54864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68680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Empat operasi dasar: CRUD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6 · Basis Data SQLite &amp; CRUD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1838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>
                <a:solidFill>
                  <a:srgbClr val="526674"/>
                </a:solidFill>
                <a:latin typeface="Calibri"/>
              </a:rPr>
              <a:t>24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1325880"/>
            <a:ext cx="1874520" cy="25146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15568" y="1554480"/>
            <a:ext cx="640080" cy="6400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5588" y="171450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2331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94360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360" y="3154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tambah_produk()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578608" y="1325880"/>
            <a:ext cx="1874520" cy="25146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3191256" y="1554480"/>
            <a:ext cx="640080" cy="640080"/>
          </a:xfrm>
          <a:prstGeom prst="ellipse">
            <a:avLst/>
          </a:prstGeom>
          <a:solidFill>
            <a:srgbClr val="2C4370"/>
          </a:solidFill>
          <a:ln w="12700">
            <a:solidFill>
              <a:srgbClr val="2C4370"/>
            </a:solidFill>
            <a:prstDash val="solid"/>
          </a:ln>
        </p:spPr>
        <p:txBody>
          <a:bodyPr/>
          <a:p/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6" y="171450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670048" y="2331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2670048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670048" y="3154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4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daftar_produk()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654296" y="1325880"/>
            <a:ext cx="1874520" cy="25146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5266944" y="1554480"/>
            <a:ext cx="640080" cy="64008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964" y="1714500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745736" y="2331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4745736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… WHERE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745736" y="3154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779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ubah_harga()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729984" y="1325880"/>
            <a:ext cx="1874520" cy="25146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7" name="Shape 22"/>
          <p:cNvSpPr/>
          <p:nvPr/>
        </p:nvSpPr>
        <p:spPr>
          <a:xfrm>
            <a:off x="7342632" y="1554480"/>
            <a:ext cx="640080" cy="64008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p/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2652" y="1714500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821424" y="2331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Delete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6821424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… WHERE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821424" y="3154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4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hapus_produk()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502920" y="4023360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FBE6E6"/>
          </a:solidFill>
          <a:ln w="12700">
            <a:solidFill>
              <a:srgbClr val="D64545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3" name="Text 27"/>
          <p:cNvSpPr/>
          <p:nvPr/>
        </p:nvSpPr>
        <p:spPr>
          <a:xfrm>
            <a:off x="68580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dan DELETE tanpa WHERE mengenai SEMUA baris. Selalu sertakan WHERE id_produk = ?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329184"/>
            <a:ext cx="292608" cy="54864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68680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· ROWCOUNT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Ubah data dan cek: kena berapa baris?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6 · Basis Data SQLite &amp; CRUD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1838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>
                <a:solidFill>
                  <a:srgbClr val="526674"/>
                </a:solidFill>
                <a:latin typeface="Calibri"/>
              </a:rPr>
              <a:t>25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1188720"/>
            <a:ext cx="5394960" cy="2651760"/>
          </a:xfrm>
          <a:prstGeom prst="roundRect">
            <a:avLst>
              <a:gd name="adj" fmla="val 2069"/>
            </a:avLst>
          </a:prstGeom>
          <a:solidFill>
            <a:srgbClr val="15213B"/>
          </a:solidFill>
          <a:ln w="12700">
            <a:solidFill>
              <a:srgbClr val="15213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67512" y="12618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database.py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67512" y="1481328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ubah_harga(id_produk, harga_baru):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koneksi = buka_koneksi()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cursor = koneksi.execute(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"UPDATE produk SET harga = ? WHERE id_produk = ?",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(harga_baru, id_produk),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koneksi.commit()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cursor.rowcount   </a:t>
            </a:r>
            <a:pPr indent="0" marL="0">
              <a:buNone/>
            </a:pPr>
            <a:r>
              <a:rPr lang="en-US" sz="1050" dirty="0">
                <a:solidFill>
                  <a:srgbClr val="F5C7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 = ID tidak ditemukan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finally: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koneksi.close()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1325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rowcount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09360" y="173736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berhasil mengubah satu baris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ID tidak ada, tidak ada yang berubah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tidak menganggap 0 baris sebagai error, jadi kita yang memeriksa.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023360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FDF1DC"/>
          </a:solidFill>
          <a:ln w="12700">
            <a:solidFill>
              <a:srgbClr val="F2A93B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580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Anda: tulis hapus_produk(id_produk) dengan pola yang sama, memakai DELETE … WHERE id_produk = ?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329184"/>
            <a:ext cx="292608" cy="54864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68680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MENIT 35–50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Praktik: jalankan app.py di browser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6 · Basis Data SQLite &amp; CRUD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1838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>
                <a:solidFill>
                  <a:srgbClr val="526674"/>
                </a:solidFill>
                <a:latin typeface="Calibri"/>
              </a:rPr>
              <a:t>26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1325880"/>
            <a:ext cx="1874520" cy="22860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Pasang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-m pip install streamlit (sekali saja, sebelum kelas)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78608" y="1325880"/>
            <a:ext cx="1874520" cy="22860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715768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715768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Jalankan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15768" y="24688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-m streamlit run app.py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54296" y="1325880"/>
            <a:ext cx="1874520" cy="22860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791456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791456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Buka browser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91456" y="24688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Kelola Produk di localhost:8501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29984" y="1325880"/>
            <a:ext cx="1874520" cy="22860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867144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867144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Ubah &amp; Rerun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67144" y="24688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kode, tekan R di browser. Berhenti: Ctrl+C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840480"/>
            <a:ext cx="8138160" cy="685800"/>
          </a:xfrm>
          <a:prstGeom prst="roundRect">
            <a:avLst>
              <a:gd name="adj" fmla="val 10667"/>
            </a:avLst>
          </a:prstGeom>
          <a:solidFill>
            <a:srgbClr val="E3F4EC"/>
          </a:solidFill>
          <a:ln w="12700">
            <a:solidFill>
              <a:srgbClr val="2E9E6B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023360"/>
            <a:ext cx="320040" cy="3200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143000" y="3886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kerja: setiap tombol ditekan, seluruh app.py dijalankan ulang dari atas. Karena itu tabel daftar produk diletakkan paling bawah.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329184"/>
            <a:ext cx="292608" cy="54864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68680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MENIT 35–70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app.py: form, tombol, dan pesan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6 · Basis Data SQLite &amp; CRUD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1838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>
                <a:solidFill>
                  <a:srgbClr val="526674"/>
                </a:solidFill>
                <a:latin typeface="Calibri"/>
              </a:rPr>
              <a:t>27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1188720"/>
            <a:ext cx="5394960" cy="3429000"/>
          </a:xfrm>
          <a:prstGeom prst="roundRect">
            <a:avLst>
              <a:gd name="adj" fmla="val 1600"/>
            </a:avLst>
          </a:prstGeom>
          <a:solidFill>
            <a:srgbClr val="15213B"/>
          </a:solidFill>
          <a:ln w="12700">
            <a:solidFill>
              <a:srgbClr val="15213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67512" y="12618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 (potongan: tambah produk)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67512" y="1481328"/>
            <a:ext cx="51206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st.form("form_tambah", clear_on_submit=True):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nama = st.text_input("Nama produk")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harga = st.number_input("Harga (Rp)", step=1, value=0)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stok = st.number_input("Stok", min_value=0, step=1)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tombol_tambah = st.form_submit_button("Simpan")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tombol_tambah: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nama.strip() == "":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st.error("Nama produk wajib diisi.")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database.tambah_produk(nama.strip(), harga, stok)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st.success("Produk tersimpan.")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except sqlite3.IntegrityError as 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st.error(f"Database menolak data: {e}")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514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63640" y="1252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st.form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63640" y="151790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Isian dikirim sekaligus saat tombol ditekan.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2057400"/>
            <a:ext cx="2514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263640" y="21214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st.number_input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238658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step=1: hanya angka bulat, abc tidak bisa diketik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2926080"/>
            <a:ext cx="2514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263640" y="2990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st.error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32552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Lapis 1: nama kosong · Lapis 2: CHECK/FK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3794760"/>
            <a:ext cx="2514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263640" y="3858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st.checkbox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412394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Centang konfirmasi sebelum menghapus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329184"/>
            <a:ext cx="292608" cy="54864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68680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MENIT 70–85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Uji silang: delapan skenario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6 · Basis Data SQLite &amp; CRUD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1838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>
                <a:solidFill>
                  <a:srgbClr val="526674"/>
                </a:solidFill>
                <a:latin typeface="Calibri"/>
              </a:rPr>
              <a:t>28</a:t>
            </a:r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8138160" cy="2884000"/>
        </p:xfrm>
        <a:graphic>
          <a:graphicData uri="http://schemas.openxmlformats.org/drawingml/2006/table">
            <a:tbl>
              <a:tblPr/>
              <a:tblGrid>
                <a:gridCol w="502920"/>
                <a:gridCol w="2148840"/>
                <a:gridCol w="2651760"/>
                <a:gridCol w="2834640"/>
              </a:tblGrid>
              <a:tr h="34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0000" marB="30000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0000" marB="30000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Langkah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0000" marB="30000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Hasil yang diharapkan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0000" marB="30000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18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0000" marB="30000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Tambah 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0000" marB="30000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Penghapus, 2000, stok 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0000" marB="30000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Pesan hijau; muncul dengan ID baru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0000" marB="30000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8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0000" marB="30000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Ubah harga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0000" marB="30000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2 (Pulpen) → 3500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0000" marB="30000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Pesan berhasil; harga baru tampil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0000" marB="30000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</a:tr>
              <a:tr h="318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0000" marB="30000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tidak 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0000" marB="30000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Ubah harga ID 999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0000" marB="30000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Pesan kuning “ID tidak ditemukan.”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0000" marB="30000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8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0000" marB="30000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Hapus, punya transaksi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0000" marB="30000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1 (Buku Tulis), dicentang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0000" marB="30000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Ditolak: FOREIGN KEY constraint failed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0000" marB="30000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</a:tr>
              <a:tr h="318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0000" marB="30000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Hapus, tanpa transaksi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0000" marB="30000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3 (Map Plastik), dicentang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0000" marB="30000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Hilang dari tabel, data lain utuh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0000" marB="30000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8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0000" marB="30000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Nama kosong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0000" marB="30000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Tambah dengan nama kosong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0000" marB="30000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“Nama produk wajib diisi.” (Python)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0000" marB="30000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</a:tr>
              <a:tr h="318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0000" marB="30000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Harga negatif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0000" marB="30000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Tambah dengan harga -5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0000" marB="30000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Ditolak: CHECK constraint failed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0000" marB="30000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8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0000" marB="30000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Hapus tanpa konfirmasi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0000" marB="30000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2, kotak tidak dicentang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0000" marB="30000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Peringatan; tidak ada yang terhapus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0000" marB="30000" anchor="ctr">
                    <a:lnL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41627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5 ditolak Python, skenario 6 ditolak database. Uji juga: hentikan (Ctrl+C), jalankan lagi, data tetap ada.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329184"/>
            <a:ext cx="292608" cy="54864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68680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TEKNIS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Empat kebiasaan aman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6 · Basis Data SQLite &amp; CRUD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1838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>
                <a:solidFill>
                  <a:srgbClr val="526674"/>
                </a:solidFill>
                <a:latin typeface="Calibri"/>
              </a:rPr>
              <a:t>29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77240" y="1627632"/>
            <a:ext cx="640080" cy="6400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787652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0020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Pakai ?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600200" y="19019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selalu lewat parameter, jangan rangkai teks SQL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28016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937760" y="1627632"/>
            <a:ext cx="640080" cy="64008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780" y="1787652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6072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commit()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760720" y="19019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INSERT, UPDATE, DELETE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02920" y="283464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777240" y="3182112"/>
            <a:ext cx="640080" cy="64008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342132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0020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/ finally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600200" y="34564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Koneksi selalu ditutup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663440" y="283464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4937760" y="3182112"/>
            <a:ext cx="640080" cy="6400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780" y="3342132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76072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PRAGMA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5760720" y="34564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foreign_keys = ON di setiap koneksi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329184"/>
            <a:ext cx="292608" cy="54864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68680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LUARAN &amp; KRITERIA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Yang dikumpulkan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6 · Basis Data SQLite &amp; CRUD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1838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>
                <a:solidFill>
                  <a:srgbClr val="526674"/>
                </a:solidFill>
                <a:latin typeface="Calibri"/>
              </a:rPr>
              <a:t>30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kasir.db (≥ 2 tabel berelasi)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buat_database.py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database.py (CRUD berparameter)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Streamlit (atau main.py jalur cadangan)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Lembar kerja terisi (uji A–C, skenario 1–8, tangkapan layar)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23444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93776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Kriteria selesai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82880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PK/FK/CHECK sesuai rancangan A1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 aktif di setiap koneksi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berhasil dari Streamlit, data terbaca kembali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yang melanggar relasi ditolak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salah tampil sebagai pesan, aplikasi tetap jalan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329184"/>
            <a:ext cx="292608" cy="54864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68680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JEMBATAN KE MINGGU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Minggu depan: fitur baru, mesin yang sama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6 · Basis Data SQLite &amp; CRUD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1838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>
                <a:solidFill>
                  <a:srgbClr val="526674"/>
                </a:solidFill>
                <a:latin typeface="Calibri"/>
              </a:rPr>
              <a:t>31</a:t>
            </a:r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02920" y="283464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9D8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8580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Minggu 6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1920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 → CRUD produk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Minggu 7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3383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 → penjualan, laporan, grafik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1828800"/>
            <a:ext cx="320040" cy="320040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3291840"/>
            <a:ext cx="320040" cy="32004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931920" y="1371600"/>
            <a:ext cx="4709160" cy="2651760"/>
          </a:xfrm>
          <a:prstGeom prst="roundRect">
            <a:avLst>
              <a:gd name="adj" fmla="val 2759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4206240" y="1691640"/>
            <a:ext cx="731520" cy="73152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p/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87452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20640" y="1783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database.py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4206240" y="260604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yang Anda buat hari ini tetap dipakai tanpa diubah. Minggu 7 hanya menambah fungsi baru: catat penjualan dan laporan omzet.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Minggu 6 — Basis Data SQLite dan CRUD</dc:title>
  <dc:subject>PptxGenJS Presentation</dc:subject>
  <dc:creator>Pemograman Bisnis &amp; Perancangan Sistem Administrasi</dc:creator>
  <cp:lastModifiedBy>Pemograman Bisnis &amp; Perancangan Sistem Administrasi</cp:lastModifiedBy>
  <cp:revision>1</cp:revision>
  <dcterms:created xsi:type="dcterms:W3CDTF">2026-10-04T06:00:18Z</dcterms:created>
  <dcterms:modified xsi:type="dcterms:W3CDTF">2026-10-04T06:00:18Z</dcterms:modified>
</cp:coreProperties>
</file>