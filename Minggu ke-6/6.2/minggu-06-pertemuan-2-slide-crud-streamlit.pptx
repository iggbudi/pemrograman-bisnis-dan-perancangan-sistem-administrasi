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88518465-BA77-D2DE-2F25-DC12CD32EF84}">
          <p14:sldIdLst>
            <p14:sldId id="256"/>
            <p14:sldId id="257"/>
            <p14:sldId id="258"/>
          </p14:sldIdLst>
        </p14:section>
        <p14:section name="database.py" id="{D363B242-2D15-9D51-D448-7ADC4EB9AE33}">
          <p14:sldIdLst>
            <p14:sldId id="259"/>
            <p14:sldId id="260"/>
            <p14:sldId id="261"/>
            <p14:sldId id="262"/>
          </p14:sldIdLst>
        </p14:section>
        <p14:section name="app.py" id="{53274BB5-55B7-23F9-04BC-A40FAE4DE659}">
          <p14:sldIdLst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Pengujian" id="{6D9D2CDE-848B-F56E-9036-D8F64D8A4A19}">
          <p14:sldIdLst>
            <p14:sldId id="269"/>
            <p14:sldId id="270"/>
            <p14:sldId id="271"/>
          </p14:sldIdLst>
        </p14:section>
        <p14:section name="Penutup" id="{4F4DE162-89C9-A918-AD7D-232F43C12110}">
          <p14:sldIdLst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0401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dengan mengingatkan hasil Senin: kasir.db sudah berisi tabel produk dan transaksi. Hari ini data itu dikelola lewat halaman web. Pastikan semua mahasiswa sudah memasang Streamlit sebelum mulai.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bahwa sebagian besar waktu adalah praktik. Latihan D dikerjakan sebelum aplikasi dijalankan agar tombol hapus langsung bisa dipakai di Latihan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Bandingkan menu terminal versi lama dengan halaman Streamlit. Tekankan: database.py sama persis. Kelas yang belum bisa memasang Streamlit tetap memakai main.py.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app.py tidak berisi SQL; database.py tidak berisi kode Streamlit. Inilah yang membuat database.py dapat dipakai ulang di Minggu 7 tanpa diubah.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Pemasangan butuh internet dan beberapa menit; sebaiknya dilakukan di rumah. Selalu pakai python -m agar tidak bergantung pada PATH Windows. Jika memakai py, pakai py untuk semua perintah.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pola ini pada tambah_produk, daftar_produk, dan ubah_harga. Semua fungsi CRUD mengikuti urutan yang sama. rowcount penting untuk ubah dan hapus.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Kerangka ini sengaja berisi titik-titik kosong. Kunci di 6.2/kode-dosen/database.py. Perhatikan tuple satu elemen (id_produk,) dengan koma. Di bahan awal, fungsi ini masih berisi raise NotImplementedError.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Jalankan bersama-sama. Jika browser tidak terbuka, salin Local URL dari terminal. Tunjukkan bahwa ubah harga dan hapus masih menampilkan pesan belum dilengkapi.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konsep paling penting hari ini. Demo: tambah satu produk, lalu tunjukkan bahwa tabel langsung berisi produk baru karena tabel dibaca paling akhir.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Tidak perlu menghafal; cukup kenali fungsinya. Warna pesan membantu pengguna: hijau berhasil, kuning peringatan, merah ditolak.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Bagian ini sudah jadi di bahan awal dan menjadi contoh untuk Latihan E. Tunjukkan dua lapis penjaga: if nama kosong (Python) dan except IntegrityError (database).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Mahasiswa mengganti baris st.info pada bagian ubah harga. Bentuk kodenya meniru bagian tambah: try, panggil fungsi, periksa hasil, except IntegrityError.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Urutan pemeriksaan penting: cek centang dulu. Jika belum dicentang, tidak boleh ada pemanggilan hapus_produk sama sekali. Penolakan FK pada ID 1 adalah bukti database melindungi transaksi.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Tanyakan: mengapa kolom harga tidak diberi min_value? Jawaban: agar mahasiswa bisa membuktikan bahwa database tetap menolak walaupun tampilan lupa memvalidasi. Pada aplikasi nyata, keduanya dipasang.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Jalankan berurutan pada database latihan. Data awal: Buku Tulis ID 1 (punya transaksi), Pulpen ID 2, Map Plastik ID 3. Catat hasil asli di B4, ambil tangkapan layar skenario 1, 4a, 6. Lanjutkan dengan uji penyimpanan.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Kebanyakan masalah hari Selasa berasal dari folder kerja yang salah atau Streamlit yang belum terpasang. Ingatkan untuk selalu membaca pesan error sampai baris terakhir.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Ingatkan: hasil uji ditulis apa adanya. Jika berbeda dari harapan, tulis satu perbaikan yang dilakukan. Gunakan data simulasi saja.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Kembali ke capaian minggu ini dan tanyakan poin mana yang masih belum yakin. Ingatkan file disimpan untuk Minggu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dul gelap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300" b="1" kern="0" spc="4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64592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063240"/>
            <a:ext cx="7315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nte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b="1" kern="0" spc="3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Minggu 6 · Pertemuan 2 · CRUD lewat Streamlit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3.png"/><Relationship Id="rId6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chemeClr val="accent1"/>
                </a:solidFill>
              </a:rPr>
              <a:t>MINGGU 6 · PERTEMUAN 2 · SELASA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6459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CRUD lewat Aplikasi Streamlit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063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Data produk dikelola dari halaman web: app.py memanggil database.py, database.py menyimpan ke kasir.db.</a:t>
            </a:r>
            <a:endParaRPr lang="en-US" sz="1600" dirty="0"/>
          </a:p>
        </p:txBody>
      </p:sp>
      <p:sp>
        <p:nvSpPr>
          <p:cNvPr id="5" name="teks-1"/>
          <p:cNvSpPr txBox="1"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ABT-3D · Administrasi Bisnis · Politeknik Negeri Semarang · Selasa 14.00–15.30 (KAN3)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AGENDA 90 MENIT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Alur pertemuan hari ini</a:t>
            </a:r>
            <a:endParaRPr lang="en-US" sz="3000" dirty="0"/>
          </a:p>
        </p:txBody>
      </p:sp>
      <p:sp>
        <p:nvSpPr>
          <p:cNvPr id="5" name="kartu-2"/>
          <p:cNvSpPr/>
          <p:nvPr/>
        </p:nvSpPr>
        <p:spPr>
          <a:xfrm>
            <a:off x="457200" y="1325880"/>
            <a:ext cx="402336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6" name="pil-3"/>
          <p:cNvSpPr/>
          <p:nvPr/>
        </p:nvSpPr>
        <p:spPr>
          <a:xfrm>
            <a:off x="594360" y="1499616"/>
            <a:ext cx="868680" cy="31089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7" name="teks-4"/>
          <p:cNvSpPr txBox="1"/>
          <p:nvPr/>
        </p:nvSpPr>
        <p:spPr>
          <a:xfrm>
            <a:off x="594360" y="149961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0–10</a:t>
            </a:r>
            <a:endParaRPr lang="en-US" sz="1200" dirty="0"/>
          </a:p>
        </p:txBody>
      </p:sp>
      <p:sp>
        <p:nvSpPr>
          <p:cNvPr id="8" name="teks-5"/>
          <p:cNvSpPr txBox="1"/>
          <p:nvPr/>
        </p:nvSpPr>
        <p:spPr>
          <a:xfrm>
            <a:off x="1600200" y="132588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Ulas tabel Senin dan pembagian file</a:t>
            </a:r>
            <a:endParaRPr lang="en-US" sz="1400" dirty="0"/>
          </a:p>
        </p:txBody>
      </p:sp>
      <p:sp>
        <p:nvSpPr>
          <p:cNvPr id="9" name="kartu-6"/>
          <p:cNvSpPr/>
          <p:nvPr/>
        </p:nvSpPr>
        <p:spPr>
          <a:xfrm>
            <a:off x="457200" y="2130552"/>
            <a:ext cx="402336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10" name="pil-7"/>
          <p:cNvSpPr/>
          <p:nvPr/>
        </p:nvSpPr>
        <p:spPr>
          <a:xfrm>
            <a:off x="594360" y="2304288"/>
            <a:ext cx="868680" cy="31089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1" name="teks-8"/>
          <p:cNvSpPr txBox="1"/>
          <p:nvPr/>
        </p:nvSpPr>
        <p:spPr>
          <a:xfrm>
            <a:off x="594360" y="230428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10–20</a:t>
            </a:r>
            <a:endParaRPr lang="en-US" sz="1200" dirty="0"/>
          </a:p>
        </p:txBody>
      </p:sp>
      <p:sp>
        <p:nvSpPr>
          <p:cNvPr id="12" name="teks-9"/>
          <p:cNvSpPr txBox="1"/>
          <p:nvPr/>
        </p:nvSpPr>
        <p:spPr>
          <a:xfrm>
            <a:off x="1600200" y="2130552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Telusuri pola database.py</a:t>
            </a:r>
            <a:endParaRPr lang="en-US" sz="1400" dirty="0"/>
          </a:p>
        </p:txBody>
      </p:sp>
      <p:sp>
        <p:nvSpPr>
          <p:cNvPr id="13" name="kartu-10"/>
          <p:cNvSpPr/>
          <p:nvPr/>
        </p:nvSpPr>
        <p:spPr>
          <a:xfrm>
            <a:off x="457200" y="2935224"/>
            <a:ext cx="402336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14" name="pil-11"/>
          <p:cNvSpPr/>
          <p:nvPr/>
        </p:nvSpPr>
        <p:spPr>
          <a:xfrm>
            <a:off x="594360" y="3108960"/>
            <a:ext cx="86868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5" name="teks-12"/>
          <p:cNvSpPr txBox="1"/>
          <p:nvPr/>
        </p:nvSpPr>
        <p:spPr>
          <a:xfrm>
            <a:off x="594360" y="31089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20–35</a:t>
            </a:r>
            <a:endParaRPr lang="en-US" sz="1200" dirty="0"/>
          </a:p>
        </p:txBody>
      </p:sp>
      <p:sp>
        <p:nvSpPr>
          <p:cNvPr id="16" name="teks-13"/>
          <p:cNvSpPr txBox="1"/>
          <p:nvPr/>
        </p:nvSpPr>
        <p:spPr>
          <a:xfrm>
            <a:off x="1600200" y="2935224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Latihan D · lengkapi hapus_produk()</a:t>
            </a:r>
            <a:endParaRPr lang="en-US" sz="1400" dirty="0"/>
          </a:p>
        </p:txBody>
      </p:sp>
      <p:sp>
        <p:nvSpPr>
          <p:cNvPr id="17" name="kartu-14"/>
          <p:cNvSpPr/>
          <p:nvPr/>
        </p:nvSpPr>
        <p:spPr>
          <a:xfrm>
            <a:off x="457200" y="3739896"/>
            <a:ext cx="402336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18" name="pil-15"/>
          <p:cNvSpPr/>
          <p:nvPr/>
        </p:nvSpPr>
        <p:spPr>
          <a:xfrm>
            <a:off x="594360" y="3913632"/>
            <a:ext cx="868680" cy="31089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9" name="teks-16"/>
          <p:cNvSpPr txBox="1"/>
          <p:nvPr/>
        </p:nvSpPr>
        <p:spPr>
          <a:xfrm>
            <a:off x="594360" y="39136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35–50</a:t>
            </a:r>
            <a:endParaRPr lang="en-US" sz="1200" dirty="0"/>
          </a:p>
        </p:txBody>
      </p:sp>
      <p:sp>
        <p:nvSpPr>
          <p:cNvPr id="20" name="teks-17"/>
          <p:cNvSpPr txBox="1"/>
          <p:nvPr/>
        </p:nvSpPr>
        <p:spPr>
          <a:xfrm>
            <a:off x="1600200" y="3739896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Jalankan app.py, pahami cara kerja Streamlit</a:t>
            </a:r>
            <a:endParaRPr lang="en-US" sz="1400" dirty="0"/>
          </a:p>
        </p:txBody>
      </p:sp>
      <p:sp>
        <p:nvSpPr>
          <p:cNvPr id="21" name="kartu-18"/>
          <p:cNvSpPr/>
          <p:nvPr/>
        </p:nvSpPr>
        <p:spPr>
          <a:xfrm>
            <a:off x="4663440" y="1325880"/>
            <a:ext cx="402336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22" name="pil-19"/>
          <p:cNvSpPr/>
          <p:nvPr/>
        </p:nvSpPr>
        <p:spPr>
          <a:xfrm>
            <a:off x="4800600" y="1499616"/>
            <a:ext cx="86868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3" name="teks-20"/>
          <p:cNvSpPr txBox="1"/>
          <p:nvPr/>
        </p:nvSpPr>
        <p:spPr>
          <a:xfrm>
            <a:off x="4800600" y="149961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50–70</a:t>
            </a:r>
            <a:endParaRPr lang="en-US" sz="1200" dirty="0"/>
          </a:p>
        </p:txBody>
      </p:sp>
      <p:sp>
        <p:nvSpPr>
          <p:cNvPr id="24" name="teks-21"/>
          <p:cNvSpPr txBox="1"/>
          <p:nvPr/>
        </p:nvSpPr>
        <p:spPr>
          <a:xfrm>
            <a:off x="5806440" y="132588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Latihan E · lengkapi ubah harga dan hapus</a:t>
            </a:r>
            <a:endParaRPr lang="en-US" sz="1400" dirty="0"/>
          </a:p>
        </p:txBody>
      </p:sp>
      <p:sp>
        <p:nvSpPr>
          <p:cNvPr id="25" name="kartu-22"/>
          <p:cNvSpPr/>
          <p:nvPr/>
        </p:nvSpPr>
        <p:spPr>
          <a:xfrm>
            <a:off x="4663440" y="2130552"/>
            <a:ext cx="402336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26" name="pil-23"/>
          <p:cNvSpPr/>
          <p:nvPr/>
        </p:nvSpPr>
        <p:spPr>
          <a:xfrm>
            <a:off x="4800600" y="2304288"/>
            <a:ext cx="86868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7" name="teks-24"/>
          <p:cNvSpPr txBox="1"/>
          <p:nvPr/>
        </p:nvSpPr>
        <p:spPr>
          <a:xfrm>
            <a:off x="4800600" y="230428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70–85</a:t>
            </a:r>
            <a:endParaRPr lang="en-US" sz="1200" dirty="0"/>
          </a:p>
        </p:txBody>
      </p:sp>
      <p:sp>
        <p:nvSpPr>
          <p:cNvPr id="28" name="teks-25"/>
          <p:cNvSpPr txBox="1"/>
          <p:nvPr/>
        </p:nvSpPr>
        <p:spPr>
          <a:xfrm>
            <a:off x="5806440" y="2130552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Uji silang delapan skenario</a:t>
            </a:r>
            <a:endParaRPr lang="en-US" sz="1400" dirty="0"/>
          </a:p>
        </p:txBody>
      </p:sp>
      <p:sp>
        <p:nvSpPr>
          <p:cNvPr id="29" name="kartu-26"/>
          <p:cNvSpPr/>
          <p:nvPr/>
        </p:nvSpPr>
        <p:spPr>
          <a:xfrm>
            <a:off x="4663440" y="2935224"/>
            <a:ext cx="402336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30" name="pil-27"/>
          <p:cNvSpPr/>
          <p:nvPr/>
        </p:nvSpPr>
        <p:spPr>
          <a:xfrm>
            <a:off x="4800600" y="3108960"/>
            <a:ext cx="868680" cy="31089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31" name="teks-28"/>
          <p:cNvSpPr txBox="1"/>
          <p:nvPr/>
        </p:nvSpPr>
        <p:spPr>
          <a:xfrm>
            <a:off x="4800600" y="31089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85–90</a:t>
            </a:r>
            <a:endParaRPr lang="en-US" sz="1200" dirty="0"/>
          </a:p>
        </p:txBody>
      </p:sp>
      <p:sp>
        <p:nvSpPr>
          <p:cNvPr id="32" name="teks-29"/>
          <p:cNvSpPr txBox="1"/>
          <p:nvPr/>
        </p:nvSpPr>
        <p:spPr>
          <a:xfrm>
            <a:off x="5806440" y="2935224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Refleksi dan jembatan ke Minggu 7</a:t>
            </a:r>
            <a:endParaRPr lang="en-US" sz="1400" dirty="0"/>
          </a:p>
        </p:txBody>
      </p:sp>
      <p:sp>
        <p:nvSpPr>
          <p:cNvPr id="33" name="pil-30"/>
          <p:cNvSpPr/>
          <p:nvPr/>
        </p:nvSpPr>
        <p:spPr>
          <a:xfrm>
            <a:off x="4800600" y="3913632"/>
            <a:ext cx="86868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34" name="teks-31"/>
          <p:cNvSpPr txBox="1"/>
          <p:nvPr/>
        </p:nvSpPr>
        <p:spPr>
          <a:xfrm>
            <a:off x="4800600" y="39136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PRAKTIK</a:t>
            </a:r>
            <a:endParaRPr lang="en-US" sz="1200" dirty="0"/>
          </a:p>
        </p:txBody>
      </p:sp>
      <p:sp>
        <p:nvSpPr>
          <p:cNvPr id="35" name="teks-32"/>
          <p:cNvSpPr txBox="1"/>
          <p:nvPr/>
        </p:nvSpPr>
        <p:spPr>
          <a:xfrm>
            <a:off x="5806440" y="3739896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= sesi praktik mahasiswa</a:t>
            </a:r>
            <a:endParaRPr lang="en-US" sz="13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YANG BERUBAH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Wajah baru, mesin yang sama</a:t>
            </a:r>
            <a:endParaRPr lang="en-US" sz="3000" dirty="0"/>
          </a:p>
        </p:txBody>
      </p:sp>
      <p:sp>
        <p:nvSpPr>
          <p:cNvPr id="5" name="kartu-33"/>
          <p:cNvSpPr/>
          <p:nvPr/>
        </p:nvSpPr>
        <p:spPr>
          <a:xfrm>
            <a:off x="457200" y="1325880"/>
            <a:ext cx="3566160" cy="260604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6" name="teks-34"/>
          <p:cNvSpPr txBox="1"/>
          <p:nvPr/>
        </p:nvSpPr>
        <p:spPr>
          <a:xfrm>
            <a:off x="640080" y="14447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Sebelumnya: menu terminal</a:t>
            </a:r>
            <a:endParaRPr lang="en-US" sz="1500" dirty="0"/>
          </a:p>
        </p:txBody>
      </p:sp>
      <p:sp>
        <p:nvSpPr>
          <p:cNvPr id="7" name="kotak-kode-35"/>
          <p:cNvSpPr/>
          <p:nvPr/>
        </p:nvSpPr>
        <p:spPr>
          <a:xfrm>
            <a:off x="640080" y="1828800"/>
            <a:ext cx="3200400" cy="192024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8" name="kode-36"/>
          <p:cNvSpPr txBox="1"/>
          <p:nvPr/>
        </p:nvSpPr>
        <p:spPr>
          <a:xfrm>
            <a:off x="822960" y="196596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KELOLA PRODUK ===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Tampilkan  2. Tambah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Ubah harga  4. Hapus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Pilih menu: 2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Nama produk: Penghapus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Harga: 2000</a:t>
            </a:r>
            <a:endParaRPr lang="en-US" sz="1200" dirty="0"/>
          </a:p>
        </p:txBody>
      </p:sp>
      <p:sp>
        <p:nvSpPr>
          <p:cNvPr id="9" name="panah-37"/>
          <p:cNvSpPr/>
          <p:nvPr/>
        </p:nvSpPr>
        <p:spPr>
          <a:xfrm>
            <a:off x="4160520" y="2624328"/>
            <a:ext cx="731520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id-ID"/>
          </a:p>
        </p:txBody>
      </p:sp>
      <p:sp>
        <p:nvSpPr>
          <p:cNvPr id="10" name="kartu-38"/>
          <p:cNvSpPr/>
          <p:nvPr/>
        </p:nvSpPr>
        <p:spPr>
          <a:xfrm>
            <a:off x="5029200" y="1325880"/>
            <a:ext cx="3657600" cy="260604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11" name="teks-39"/>
          <p:cNvSpPr txBox="1"/>
          <p:nvPr/>
        </p:nvSpPr>
        <p:spPr>
          <a:xfrm>
            <a:off x="5212080" y="14447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Sekarang: halaman web</a:t>
            </a:r>
            <a:endParaRPr lang="en-US" sz="1500" dirty="0"/>
          </a:p>
        </p:txBody>
      </p:sp>
      <p:sp>
        <p:nvSpPr>
          <p:cNvPr id="12" name="browser-40"/>
          <p:cNvSpPr/>
          <p:nvPr/>
        </p:nvSpPr>
        <p:spPr>
          <a:xfrm>
            <a:off x="5212080" y="1828800"/>
            <a:ext cx="3291840" cy="19202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3" name="titik-41"/>
          <p:cNvSpPr/>
          <p:nvPr/>
        </p:nvSpPr>
        <p:spPr>
          <a:xfrm>
            <a:off x="5321808" y="1911096"/>
            <a:ext cx="82296" cy="82296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4" name="titik-42"/>
          <p:cNvSpPr/>
          <p:nvPr/>
        </p:nvSpPr>
        <p:spPr>
          <a:xfrm>
            <a:off x="5468112" y="1911096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5" name="titik-43"/>
          <p:cNvSpPr/>
          <p:nvPr/>
        </p:nvSpPr>
        <p:spPr>
          <a:xfrm>
            <a:off x="5614416" y="1911096"/>
            <a:ext cx="82296" cy="82296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6" name="teks-44"/>
          <p:cNvSpPr txBox="1"/>
          <p:nvPr/>
        </p:nvSpPr>
        <p:spPr>
          <a:xfrm>
            <a:off x="5852160" y="18562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localhost:8501</a:t>
            </a:r>
            <a:endParaRPr lang="en-US" sz="1000" dirty="0"/>
          </a:p>
        </p:txBody>
      </p:sp>
      <p:sp>
        <p:nvSpPr>
          <p:cNvPr id="17" name="teks-45"/>
          <p:cNvSpPr txBox="1"/>
          <p:nvPr/>
        </p:nvSpPr>
        <p:spPr>
          <a:xfrm>
            <a:off x="5349240" y="21031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Kelola Produk</a:t>
            </a:r>
            <a:endParaRPr lang="en-US" sz="1500" dirty="0"/>
          </a:p>
        </p:txBody>
      </p:sp>
      <p:sp>
        <p:nvSpPr>
          <p:cNvPr id="18" name="isian-46"/>
          <p:cNvSpPr/>
          <p:nvPr/>
        </p:nvSpPr>
        <p:spPr>
          <a:xfrm>
            <a:off x="5349240" y="2468880"/>
            <a:ext cx="3017520" cy="256032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9" name="teks-47"/>
          <p:cNvSpPr txBox="1"/>
          <p:nvPr/>
        </p:nvSpPr>
        <p:spPr>
          <a:xfrm>
            <a:off x="5422392" y="24688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Nama produk: Penghapus</a:t>
            </a:r>
            <a:endParaRPr lang="en-US" sz="1100" dirty="0"/>
          </a:p>
        </p:txBody>
      </p:sp>
      <p:sp>
        <p:nvSpPr>
          <p:cNvPr id="20" name="isian-48"/>
          <p:cNvSpPr/>
          <p:nvPr/>
        </p:nvSpPr>
        <p:spPr>
          <a:xfrm>
            <a:off x="5349240" y="2798064"/>
            <a:ext cx="3017520" cy="256032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1" name="teks-49"/>
          <p:cNvSpPr txBox="1"/>
          <p:nvPr/>
        </p:nvSpPr>
        <p:spPr>
          <a:xfrm>
            <a:off x="5422392" y="27980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Harga (Rp): 2000</a:t>
            </a:r>
            <a:endParaRPr lang="en-US" sz="1100" dirty="0"/>
          </a:p>
        </p:txBody>
      </p:sp>
      <p:sp>
        <p:nvSpPr>
          <p:cNvPr id="22" name="pil-50"/>
          <p:cNvSpPr/>
          <p:nvPr/>
        </p:nvSpPr>
        <p:spPr>
          <a:xfrm>
            <a:off x="5349240" y="3154680"/>
            <a:ext cx="118872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3" name="teks-51"/>
          <p:cNvSpPr txBox="1"/>
          <p:nvPr/>
        </p:nvSpPr>
        <p:spPr>
          <a:xfrm>
            <a:off x="5349240" y="31546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Simpan produk</a:t>
            </a:r>
            <a:endParaRPr lang="en-US" sz="1000" dirty="0"/>
          </a:p>
        </p:txBody>
      </p:sp>
      <p:sp>
        <p:nvSpPr>
          <p:cNvPr id="24" name="pesan-success-52"/>
          <p:cNvSpPr/>
          <p:nvPr/>
        </p:nvSpPr>
        <p:spPr>
          <a:xfrm>
            <a:off x="6629400" y="3154680"/>
            <a:ext cx="1737360" cy="256032"/>
          </a:xfrm>
          <a:prstGeom prst="roundRect">
            <a:avLst>
              <a:gd name="adj" fmla="val 21429"/>
            </a:avLst>
          </a:prstGeom>
          <a:solidFill>
            <a:schemeClr val="accent3">
              <a:alpha val="15000"/>
            </a:schemeClr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5" name="teks-53"/>
          <p:cNvSpPr txBox="1"/>
          <p:nvPr/>
        </p:nvSpPr>
        <p:spPr>
          <a:xfrm>
            <a:off x="6739128" y="315468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Produk tersimpan.</a:t>
            </a:r>
            <a:endParaRPr lang="en-US" sz="1000" dirty="0"/>
          </a:p>
        </p:txBody>
      </p:sp>
      <p:sp>
        <p:nvSpPr>
          <p:cNvPr id="26" name="lingkar-ikon-54"/>
          <p:cNvSpPr/>
          <p:nvPr/>
        </p:nvSpPr>
        <p:spPr>
          <a:xfrm>
            <a:off x="457200" y="40965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27" name="ikon-5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215384"/>
            <a:ext cx="219456" cy="219456"/>
          </a:xfrm>
          <a:prstGeom prst="rect">
            <a:avLst/>
          </a:prstGeom>
        </p:spPr>
      </p:pic>
      <p:sp>
        <p:nvSpPr>
          <p:cNvPr id="28" name="teks-56"/>
          <p:cNvSpPr txBox="1"/>
          <p:nvPr/>
        </p:nvSpPr>
        <p:spPr>
          <a:xfrm>
            <a:off x="1051560" y="409651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database.py tidak berubah. </a:t>
            </a:r>
            <a:r>
              <a:rPr lang="en-US" sz="1500" dirty="0">
                <a:solidFill>
                  <a:schemeClr val="tx1"/>
                </a:solidFill>
              </a:rPr>
              <a:t>Hanya cara pengguna memasukkan dan melihat data yang berganti.</a:t>
            </a:r>
            <a:endParaRPr lang="en-US" sz="15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STRUKTUR PROYEK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File Task Distribution</a:t>
            </a:r>
            <a:endParaRPr lang="en-US" sz="3000" dirty="0"/>
          </a:p>
        </p:txBody>
      </p:sp>
      <p:sp>
        <p:nvSpPr>
          <p:cNvPr id="5" name="kartu-57"/>
          <p:cNvSpPr/>
          <p:nvPr/>
        </p:nvSpPr>
        <p:spPr>
          <a:xfrm>
            <a:off x="457200" y="1371600"/>
            <a:ext cx="2377440" cy="269748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6" name="lingkar-ikon-58"/>
          <p:cNvSpPr/>
          <p:nvPr/>
        </p:nvSpPr>
        <p:spPr>
          <a:xfrm>
            <a:off x="1325880" y="15544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7" name="ikon-5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301" y="1720901"/>
            <a:ext cx="307238" cy="307238"/>
          </a:xfrm>
          <a:prstGeom prst="rect">
            <a:avLst/>
          </a:prstGeom>
        </p:spPr>
      </p:pic>
      <p:sp>
        <p:nvSpPr>
          <p:cNvPr id="8" name="teks-60"/>
          <p:cNvSpPr txBox="1"/>
          <p:nvPr/>
        </p:nvSpPr>
        <p:spPr>
          <a:xfrm>
            <a:off x="594360" y="23042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800" dirty="0"/>
          </a:p>
        </p:txBody>
      </p:sp>
      <p:sp>
        <p:nvSpPr>
          <p:cNvPr id="9" name="teks-61"/>
          <p:cNvSpPr txBox="1"/>
          <p:nvPr/>
        </p:nvSpPr>
        <p:spPr>
          <a:xfrm>
            <a:off x="640080" y="272491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Tampilan: formulir, tombol, pesan, dan tabel produk</a:t>
            </a:r>
            <a:endParaRPr lang="en-US" sz="1400" dirty="0"/>
          </a:p>
        </p:txBody>
      </p:sp>
      <p:sp>
        <p:nvSpPr>
          <p:cNvPr id="10" name="teks-62"/>
          <p:cNvSpPr txBox="1"/>
          <p:nvPr/>
        </p:nvSpPr>
        <p:spPr>
          <a:xfrm>
            <a:off x="640080" y="35478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5"/>
                </a:solidFill>
              </a:rPr>
              <a:t>Tidak berisi SQL</a:t>
            </a:r>
            <a:endParaRPr lang="en-US" sz="1200" dirty="0"/>
          </a:p>
        </p:txBody>
      </p:sp>
      <p:sp>
        <p:nvSpPr>
          <p:cNvPr id="11" name="panah-63"/>
          <p:cNvSpPr/>
          <p:nvPr/>
        </p:nvSpPr>
        <p:spPr>
          <a:xfrm>
            <a:off x="2880360" y="1874520"/>
            <a:ext cx="457200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id-ID"/>
          </a:p>
        </p:txBody>
      </p:sp>
      <p:sp>
        <p:nvSpPr>
          <p:cNvPr id="12" name="kartu-64"/>
          <p:cNvSpPr/>
          <p:nvPr/>
        </p:nvSpPr>
        <p:spPr>
          <a:xfrm>
            <a:off x="3383280" y="1371600"/>
            <a:ext cx="2377440" cy="269748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13" name="lingkar-ikon-65"/>
          <p:cNvSpPr/>
          <p:nvPr/>
        </p:nvSpPr>
        <p:spPr>
          <a:xfrm>
            <a:off x="4251960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14" name="ikon-6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381" y="1720901"/>
            <a:ext cx="307238" cy="307238"/>
          </a:xfrm>
          <a:prstGeom prst="rect">
            <a:avLst/>
          </a:prstGeom>
        </p:spPr>
      </p:pic>
      <p:sp>
        <p:nvSpPr>
          <p:cNvPr id="15" name="teks-67"/>
          <p:cNvSpPr txBox="1"/>
          <p:nvPr/>
        </p:nvSpPr>
        <p:spPr>
          <a:xfrm>
            <a:off x="3520440" y="23042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database.py</a:t>
            </a:r>
            <a:endParaRPr lang="en-US" sz="1800" dirty="0"/>
          </a:p>
        </p:txBody>
      </p:sp>
      <p:sp>
        <p:nvSpPr>
          <p:cNvPr id="16" name="teks-68"/>
          <p:cNvSpPr txBox="1"/>
          <p:nvPr/>
        </p:nvSpPr>
        <p:spPr>
          <a:xfrm>
            <a:off x="3566160" y="272491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Fungsi tambah, tampil, ubah harga, hapus dengan query ?</a:t>
            </a:r>
            <a:endParaRPr lang="en-US" sz="1400" dirty="0"/>
          </a:p>
        </p:txBody>
      </p:sp>
      <p:sp>
        <p:nvSpPr>
          <p:cNvPr id="17" name="teks-69"/>
          <p:cNvSpPr txBox="1"/>
          <p:nvPr/>
        </p:nvSpPr>
        <p:spPr>
          <a:xfrm>
            <a:off x="3566160" y="35478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5"/>
                </a:solidFill>
              </a:rPr>
              <a:t>Tidak berisi kode Streamlit</a:t>
            </a:r>
            <a:endParaRPr lang="en-US" sz="1200" dirty="0"/>
          </a:p>
        </p:txBody>
      </p:sp>
      <p:sp>
        <p:nvSpPr>
          <p:cNvPr id="18" name="panah-70"/>
          <p:cNvSpPr/>
          <p:nvPr/>
        </p:nvSpPr>
        <p:spPr>
          <a:xfrm>
            <a:off x="5806440" y="1874520"/>
            <a:ext cx="457200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id-ID"/>
          </a:p>
        </p:txBody>
      </p:sp>
      <p:sp>
        <p:nvSpPr>
          <p:cNvPr id="19" name="kartu-71"/>
          <p:cNvSpPr/>
          <p:nvPr/>
        </p:nvSpPr>
        <p:spPr>
          <a:xfrm>
            <a:off x="6309360" y="1371600"/>
            <a:ext cx="2377440" cy="269748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20" name="lingkar-ikon-72"/>
          <p:cNvSpPr/>
          <p:nvPr/>
        </p:nvSpPr>
        <p:spPr>
          <a:xfrm>
            <a:off x="7178040" y="15544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21" name="ikon-7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4461" y="1720901"/>
            <a:ext cx="307238" cy="307238"/>
          </a:xfrm>
          <a:prstGeom prst="rect">
            <a:avLst/>
          </a:prstGeom>
        </p:spPr>
      </p:pic>
      <p:sp>
        <p:nvSpPr>
          <p:cNvPr id="22" name="teks-74"/>
          <p:cNvSpPr txBox="1"/>
          <p:nvPr/>
        </p:nvSpPr>
        <p:spPr>
          <a:xfrm>
            <a:off x="6446520" y="23042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kasir.db</a:t>
            </a:r>
            <a:endParaRPr lang="en-US" sz="1800" dirty="0"/>
          </a:p>
        </p:txBody>
      </p:sp>
      <p:sp>
        <p:nvSpPr>
          <p:cNvPr id="23" name="teks-75"/>
          <p:cNvSpPr txBox="1"/>
          <p:nvPr/>
        </p:nvSpPr>
        <p:spPr>
          <a:xfrm>
            <a:off x="6492240" y="272491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Tabel produk dan transaksi dari pertemuan Senin</a:t>
            </a:r>
            <a:endParaRPr lang="en-US" sz="1400" dirty="0"/>
          </a:p>
        </p:txBody>
      </p:sp>
      <p:sp>
        <p:nvSpPr>
          <p:cNvPr id="24" name="teks-76"/>
          <p:cNvSpPr txBox="1"/>
          <p:nvPr/>
        </p:nvSpPr>
        <p:spPr>
          <a:xfrm>
            <a:off x="6492240" y="35478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5"/>
                </a:solidFill>
              </a:rPr>
              <a:t>Tetap ada walau aplikasi ditutup</a:t>
            </a:r>
            <a:endParaRPr lang="en-US" sz="1200" dirty="0"/>
          </a:p>
        </p:txBody>
      </p:sp>
      <p:sp>
        <p:nvSpPr>
          <p:cNvPr id="25" name="teks-77"/>
          <p:cNvSpPr txBox="1"/>
          <p:nvPr/>
        </p:nvSpPr>
        <p:spPr>
          <a:xfrm>
            <a:off x="457200" y="42245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logika_bisnis.py </a:t>
            </a:r>
            <a:r>
              <a:rPr lang="en-US" sz="1300" dirty="0">
                <a:solidFill>
                  <a:schemeClr val="accent5"/>
                </a:solidFill>
              </a:rPr>
              <a:t>dari Minggu 5 tetap ada untuk perhitungan dan tidak diubah minggu ini.</a:t>
            </a:r>
            <a:endParaRPr lang="en-US" sz="13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PERSIAPAN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Streamlit terpasang sebelum kelas</a:t>
            </a:r>
            <a:endParaRPr lang="en-US" sz="3000" dirty="0"/>
          </a:p>
        </p:txBody>
      </p:sp>
      <p:sp>
        <p:nvSpPr>
          <p:cNvPr id="5" name="kartu-78"/>
          <p:cNvSpPr/>
          <p:nvPr/>
        </p:nvSpPr>
        <p:spPr>
          <a:xfrm>
            <a:off x="457200" y="1325880"/>
            <a:ext cx="51206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6" name="lingkar-ikon-79"/>
          <p:cNvSpPr/>
          <p:nvPr/>
        </p:nvSpPr>
        <p:spPr>
          <a:xfrm>
            <a:off x="621792" y="1481328"/>
            <a:ext cx="512064" cy="512064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7" name="ikon-8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929" y="1614465"/>
            <a:ext cx="245791" cy="245791"/>
          </a:xfrm>
          <a:prstGeom prst="rect">
            <a:avLst/>
          </a:prstGeom>
        </p:spPr>
      </p:pic>
      <p:sp>
        <p:nvSpPr>
          <p:cNvPr id="8" name="teks-81"/>
          <p:cNvSpPr txBox="1"/>
          <p:nvPr/>
        </p:nvSpPr>
        <p:spPr>
          <a:xfrm>
            <a:off x="1298448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Pasang sekali saja</a:t>
            </a:r>
            <a:endParaRPr lang="en-US" sz="1400" dirty="0"/>
          </a:p>
        </p:txBody>
      </p:sp>
      <p:sp>
        <p:nvSpPr>
          <p:cNvPr id="9" name="teks-82"/>
          <p:cNvSpPr txBox="1"/>
          <p:nvPr/>
        </p:nvSpPr>
        <p:spPr>
          <a:xfrm>
            <a:off x="1298448" y="172821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pip install streamlit</a:t>
            </a:r>
            <a:endParaRPr lang="en-US" sz="1300" dirty="0"/>
          </a:p>
        </p:txBody>
      </p:sp>
      <p:sp>
        <p:nvSpPr>
          <p:cNvPr id="10" name="kartu-83"/>
          <p:cNvSpPr/>
          <p:nvPr/>
        </p:nvSpPr>
        <p:spPr>
          <a:xfrm>
            <a:off x="457200" y="2313432"/>
            <a:ext cx="51206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11" name="lingkar-ikon-84"/>
          <p:cNvSpPr/>
          <p:nvPr/>
        </p:nvSpPr>
        <p:spPr>
          <a:xfrm>
            <a:off x="621792" y="2468880"/>
            <a:ext cx="512064" cy="512064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12" name="ikon-8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929" y="2602017"/>
            <a:ext cx="245791" cy="245791"/>
          </a:xfrm>
          <a:prstGeom prst="rect">
            <a:avLst/>
          </a:prstGeom>
        </p:spPr>
      </p:pic>
      <p:sp>
        <p:nvSpPr>
          <p:cNvPr id="13" name="teks-86"/>
          <p:cNvSpPr txBox="1"/>
          <p:nvPr/>
        </p:nvSpPr>
        <p:spPr>
          <a:xfrm>
            <a:off x="1298448" y="24048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Periksa versinya</a:t>
            </a:r>
            <a:endParaRPr lang="en-US" sz="1400" dirty="0"/>
          </a:p>
        </p:txBody>
      </p:sp>
      <p:sp>
        <p:nvSpPr>
          <p:cNvPr id="14" name="teks-87"/>
          <p:cNvSpPr txBox="1"/>
          <p:nvPr/>
        </p:nvSpPr>
        <p:spPr>
          <a:xfrm>
            <a:off x="1298448" y="27157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streamlit version</a:t>
            </a:r>
            <a:endParaRPr lang="en-US" sz="1300" dirty="0"/>
          </a:p>
        </p:txBody>
      </p:sp>
      <p:sp>
        <p:nvSpPr>
          <p:cNvPr id="15" name="kartu-88"/>
          <p:cNvSpPr/>
          <p:nvPr/>
        </p:nvSpPr>
        <p:spPr>
          <a:xfrm>
            <a:off x="457200" y="3300984"/>
            <a:ext cx="51206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16" name="lingkar-ikon-89"/>
          <p:cNvSpPr/>
          <p:nvPr/>
        </p:nvSpPr>
        <p:spPr>
          <a:xfrm>
            <a:off x="621792" y="3456432"/>
            <a:ext cx="512064" cy="512064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17" name="ikon-9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929" y="3589569"/>
            <a:ext cx="245791" cy="245791"/>
          </a:xfrm>
          <a:prstGeom prst="rect">
            <a:avLst/>
          </a:prstGeom>
        </p:spPr>
      </p:pic>
      <p:sp>
        <p:nvSpPr>
          <p:cNvPr id="18" name="teks-91"/>
          <p:cNvSpPr txBox="1"/>
          <p:nvPr/>
        </p:nvSpPr>
        <p:spPr>
          <a:xfrm>
            <a:off x="1298448" y="33924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Salin bahan awal</a:t>
            </a:r>
            <a:endParaRPr lang="en-US" sz="1400" dirty="0"/>
          </a:p>
        </p:txBody>
      </p:sp>
      <p:sp>
        <p:nvSpPr>
          <p:cNvPr id="19" name="teks-92"/>
          <p:cNvSpPr txBox="1"/>
          <p:nvPr/>
        </p:nvSpPr>
        <p:spPr>
          <a:xfrm>
            <a:off x="1298448" y="37033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database.py  dan  app.py  →  folder minggu-06</a:t>
            </a:r>
            <a:endParaRPr lang="en-US" sz="1300" dirty="0"/>
          </a:p>
        </p:txBody>
      </p:sp>
      <p:sp>
        <p:nvSpPr>
          <p:cNvPr id="20" name="kartu-93"/>
          <p:cNvSpPr/>
          <p:nvPr/>
        </p:nvSpPr>
        <p:spPr>
          <a:xfrm>
            <a:off x="5852160" y="1325880"/>
            <a:ext cx="2834640" cy="2798064"/>
          </a:xfrm>
          <a:prstGeom prst="roundRect">
            <a:avLst>
              <a:gd name="adj" fmla="val 2614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21" name="lingkar-ikon-94"/>
          <p:cNvSpPr/>
          <p:nvPr/>
        </p:nvSpPr>
        <p:spPr>
          <a:xfrm>
            <a:off x="6035040" y="1508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22" name="ikon-9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7686" y="1651406"/>
            <a:ext cx="263347" cy="263347"/>
          </a:xfrm>
          <a:prstGeom prst="rect">
            <a:avLst/>
          </a:prstGeom>
        </p:spPr>
      </p:pic>
      <p:sp>
        <p:nvSpPr>
          <p:cNvPr id="23" name="teks-96"/>
          <p:cNvSpPr txBox="1"/>
          <p:nvPr/>
        </p:nvSpPr>
        <p:spPr>
          <a:xfrm>
            <a:off x="6035040" y="21762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Jalur cadangan</a:t>
            </a:r>
            <a:endParaRPr lang="en-US" sz="1600" dirty="0"/>
          </a:p>
        </p:txBody>
      </p:sp>
      <p:sp>
        <p:nvSpPr>
          <p:cNvPr id="24" name="teks-97"/>
          <p:cNvSpPr txBox="1"/>
          <p:nvPr/>
        </p:nvSpPr>
        <p:spPr>
          <a:xfrm>
            <a:off x="6035040" y="2542032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Belum bisa memasang Streamlit? Pakai menu terminal main.py sesuai arahan dosen. database.py yang dipakai sama persis.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MENIT 10–20 · DEMO DOSEN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Pola yang selalu sama di database.py</a:t>
            </a:r>
            <a:endParaRPr lang="en-US" sz="3000" dirty="0"/>
          </a:p>
        </p:txBody>
      </p:sp>
      <p:sp>
        <p:nvSpPr>
          <p:cNvPr id="5" name="langkah-98"/>
          <p:cNvSpPr/>
          <p:nvPr/>
        </p:nvSpPr>
        <p:spPr>
          <a:xfrm>
            <a:off x="457200" y="1371600"/>
            <a:ext cx="1600200" cy="822960"/>
          </a:xfrm>
          <a:prstGeom prst="chevron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6" name="teks-99"/>
          <p:cNvSpPr txBox="1"/>
          <p:nvPr/>
        </p:nvSpPr>
        <p:spPr>
          <a:xfrm>
            <a:off x="768096" y="1371600"/>
            <a:ext cx="1133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buka_koneksi()</a:t>
            </a:r>
            <a:endParaRPr lang="en-US" sz="1000" dirty="0"/>
          </a:p>
        </p:txBody>
      </p:sp>
      <p:sp>
        <p:nvSpPr>
          <p:cNvPr id="7" name="teks-100"/>
          <p:cNvSpPr txBox="1"/>
          <p:nvPr/>
        </p:nvSpPr>
        <p:spPr>
          <a:xfrm>
            <a:off x="457200" y="2286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PRAGMA foreign_keys = ON</a:t>
            </a:r>
            <a:endParaRPr lang="en-US" sz="1200" dirty="0"/>
          </a:p>
        </p:txBody>
      </p:sp>
      <p:sp>
        <p:nvSpPr>
          <p:cNvPr id="8" name="langkah-101"/>
          <p:cNvSpPr/>
          <p:nvPr/>
        </p:nvSpPr>
        <p:spPr>
          <a:xfrm>
            <a:off x="2103120" y="1371600"/>
            <a:ext cx="1600200" cy="822960"/>
          </a:xfrm>
          <a:prstGeom prst="chevron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9" name="teks-102"/>
          <p:cNvSpPr txBox="1"/>
          <p:nvPr/>
        </p:nvSpPr>
        <p:spPr>
          <a:xfrm>
            <a:off x="2414016" y="1371600"/>
            <a:ext cx="1133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000" dirty="0"/>
          </a:p>
        </p:txBody>
      </p:sp>
      <p:sp>
        <p:nvSpPr>
          <p:cNvPr id="10" name="teks-103"/>
          <p:cNvSpPr txBox="1"/>
          <p:nvPr/>
        </p:nvSpPr>
        <p:spPr>
          <a:xfrm>
            <a:off x="2103120" y="2286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mulai bagian yang bisa gagal</a:t>
            </a:r>
            <a:endParaRPr lang="en-US" sz="1200" dirty="0"/>
          </a:p>
        </p:txBody>
      </p:sp>
      <p:sp>
        <p:nvSpPr>
          <p:cNvPr id="11" name="langkah-104"/>
          <p:cNvSpPr/>
          <p:nvPr/>
        </p:nvSpPr>
        <p:spPr>
          <a:xfrm>
            <a:off x="3749040" y="1371600"/>
            <a:ext cx="1600200" cy="822960"/>
          </a:xfrm>
          <a:prstGeom prst="chevron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2" name="teks-105"/>
          <p:cNvSpPr txBox="1"/>
          <p:nvPr/>
        </p:nvSpPr>
        <p:spPr>
          <a:xfrm>
            <a:off x="4059936" y="1371600"/>
            <a:ext cx="1133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execute(?)</a:t>
            </a:r>
            <a:endParaRPr lang="en-US" sz="1000" dirty="0"/>
          </a:p>
        </p:txBody>
      </p:sp>
      <p:sp>
        <p:nvSpPr>
          <p:cNvPr id="13" name="teks-106"/>
          <p:cNvSpPr txBox="1"/>
          <p:nvPr/>
        </p:nvSpPr>
        <p:spPr>
          <a:xfrm>
            <a:off x="3749040" y="2286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nilai lewat parameter</a:t>
            </a:r>
            <a:endParaRPr lang="en-US" sz="1200" dirty="0"/>
          </a:p>
        </p:txBody>
      </p:sp>
      <p:sp>
        <p:nvSpPr>
          <p:cNvPr id="14" name="langkah-107"/>
          <p:cNvSpPr/>
          <p:nvPr/>
        </p:nvSpPr>
        <p:spPr>
          <a:xfrm>
            <a:off x="5394960" y="1371600"/>
            <a:ext cx="1600200" cy="822960"/>
          </a:xfrm>
          <a:prstGeom prst="chevron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5" name="teks-108"/>
          <p:cNvSpPr txBox="1"/>
          <p:nvPr/>
        </p:nvSpPr>
        <p:spPr>
          <a:xfrm>
            <a:off x="5705856" y="1371600"/>
            <a:ext cx="1133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commit()</a:t>
            </a:r>
            <a:endParaRPr lang="en-US" sz="1000" dirty="0"/>
          </a:p>
        </p:txBody>
      </p:sp>
      <p:sp>
        <p:nvSpPr>
          <p:cNvPr id="16" name="teks-109"/>
          <p:cNvSpPr txBox="1"/>
          <p:nvPr/>
        </p:nvSpPr>
        <p:spPr>
          <a:xfrm>
            <a:off x="5394960" y="2286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simpan perubahan</a:t>
            </a:r>
            <a:endParaRPr lang="en-US" sz="1200" dirty="0"/>
          </a:p>
        </p:txBody>
      </p:sp>
      <p:sp>
        <p:nvSpPr>
          <p:cNvPr id="17" name="langkah-110"/>
          <p:cNvSpPr/>
          <p:nvPr/>
        </p:nvSpPr>
        <p:spPr>
          <a:xfrm>
            <a:off x="7040880" y="1371600"/>
            <a:ext cx="1600200" cy="822960"/>
          </a:xfrm>
          <a:prstGeom prst="chevron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8" name="teks-111"/>
          <p:cNvSpPr txBox="1"/>
          <p:nvPr/>
        </p:nvSpPr>
        <p:spPr>
          <a:xfrm>
            <a:off x="7351776" y="1371600"/>
            <a:ext cx="1133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close()</a:t>
            </a:r>
            <a:endParaRPr lang="en-US" sz="1000" dirty="0"/>
          </a:p>
        </p:txBody>
      </p:sp>
      <p:sp>
        <p:nvSpPr>
          <p:cNvPr id="19" name="teks-112"/>
          <p:cNvSpPr txBox="1"/>
          <p:nvPr/>
        </p:nvSpPr>
        <p:spPr>
          <a:xfrm>
            <a:off x="7040880" y="2286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koneksi selalu ditutup</a:t>
            </a:r>
            <a:endParaRPr lang="en-US" sz="1200" dirty="0"/>
          </a:p>
        </p:txBody>
      </p:sp>
      <p:sp>
        <p:nvSpPr>
          <p:cNvPr id="20" name="kartu-113"/>
          <p:cNvSpPr/>
          <p:nvPr/>
        </p:nvSpPr>
        <p:spPr>
          <a:xfrm>
            <a:off x="457200" y="3108960"/>
            <a:ext cx="393192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21" name="teks-114"/>
          <p:cNvSpPr txBox="1"/>
          <p:nvPr/>
        </p:nvSpPr>
        <p:spPr>
          <a:xfrm>
            <a:off x="640080" y="32186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rowcount: kena berapa baris?</a:t>
            </a:r>
            <a:endParaRPr lang="en-US" sz="1500" dirty="0"/>
          </a:p>
        </p:txBody>
      </p:sp>
      <p:sp>
        <p:nvSpPr>
          <p:cNvPr id="22" name="teks-115"/>
          <p:cNvSpPr txBox="1"/>
          <p:nvPr/>
        </p:nvSpPr>
        <p:spPr>
          <a:xfrm>
            <a:off x="640080" y="35661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1</a:t>
            </a:r>
            <a:r>
              <a:rPr lang="en-US" sz="1400" dirty="0">
                <a:solidFill>
                  <a:schemeClr val="tx1"/>
                </a:solidFill>
              </a:rPr>
              <a:t> → baris ditemukan dan berubah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6"/>
                </a:solidFill>
              </a:rPr>
              <a:t>0</a:t>
            </a:r>
            <a:r>
              <a:rPr lang="en-US" sz="1400" dirty="0">
                <a:solidFill>
                  <a:schemeClr val="tx1"/>
                </a:solidFill>
              </a:rPr>
              <a:t> → ID tidak ada; SQL tidak menganggapnya error</a:t>
            </a:r>
            <a:endParaRPr lang="en-US" sz="1400" dirty="0"/>
          </a:p>
        </p:txBody>
      </p:sp>
      <p:sp>
        <p:nvSpPr>
          <p:cNvPr id="23" name="kartu-116"/>
          <p:cNvSpPr/>
          <p:nvPr/>
        </p:nvSpPr>
        <p:spPr>
          <a:xfrm>
            <a:off x="4663440" y="3108960"/>
            <a:ext cx="402336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24" name="teks-117"/>
          <p:cNvSpPr txBox="1"/>
          <p:nvPr/>
        </p:nvSpPr>
        <p:spPr>
          <a:xfrm>
            <a:off x="4846320" y="32186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Mengapa tanda tanya ?</a:t>
            </a:r>
            <a:endParaRPr lang="en-US" sz="1500" dirty="0"/>
          </a:p>
        </p:txBody>
      </p:sp>
      <p:sp>
        <p:nvSpPr>
          <p:cNvPr id="25" name="teks-118"/>
          <p:cNvSpPr txBox="1"/>
          <p:nvPr/>
        </p:nvSpPr>
        <p:spPr>
          <a:xfrm>
            <a:off x="4846320" y="356616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Nama seperti Toko D'Arso tidak merusak perintah, dan isian jahat tidak bisa menyusup menjadi SQL.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MENIT 20–35 · LATIHAN D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Lengkapi hapus_produk()</a:t>
            </a:r>
            <a:endParaRPr lang="en-US" sz="3000" dirty="0"/>
          </a:p>
        </p:txBody>
      </p:sp>
      <p:sp>
        <p:nvSpPr>
          <p:cNvPr id="5" name="kotak-kode-119"/>
          <p:cNvSpPr/>
          <p:nvPr/>
        </p:nvSpPr>
        <p:spPr>
          <a:xfrm>
            <a:off x="457200" y="1325880"/>
            <a:ext cx="4846320" cy="3154680"/>
          </a:xfrm>
          <a:prstGeom prst="roundRect">
            <a:avLst>
              <a:gd name="adj" fmla="val 2319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6" name="kode-120"/>
          <p:cNvSpPr txBox="1"/>
          <p:nvPr/>
        </p:nvSpPr>
        <p:spPr>
          <a:xfrm>
            <a:off x="640080" y="1463040"/>
            <a:ext cx="44805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database.py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hapus_produk(id_produk):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koneksi = buka_koneksi()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cursor = koneksi.execute(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"DELETE FROM produk WHERE ______ = ?",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(________,),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koneksi.commit()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____________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finally: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koneksi.close()</a:t>
            </a:r>
            <a:endParaRPr lang="en-US" sz="1200" dirty="0"/>
          </a:p>
        </p:txBody>
      </p:sp>
      <p:sp>
        <p:nvSpPr>
          <p:cNvPr id="7" name="kartu-121"/>
          <p:cNvSpPr/>
          <p:nvPr/>
        </p:nvSpPr>
        <p:spPr>
          <a:xfrm>
            <a:off x="5532120" y="1325880"/>
            <a:ext cx="3154680" cy="941832"/>
          </a:xfrm>
          <a:prstGeom prst="roundRect">
            <a:avLst>
              <a:gd name="adj" fmla="val 7767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8" name="lingkar-ikon-122"/>
          <p:cNvSpPr/>
          <p:nvPr/>
        </p:nvSpPr>
        <p:spPr>
          <a:xfrm>
            <a:off x="5669280" y="150876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9" name="ikon-12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2" y="1627632"/>
            <a:ext cx="219456" cy="219456"/>
          </a:xfrm>
          <a:prstGeom prst="rect">
            <a:avLst/>
          </a:prstGeom>
        </p:spPr>
      </p:pic>
      <p:sp>
        <p:nvSpPr>
          <p:cNvPr id="10" name="teks-124"/>
          <p:cNvSpPr txBox="1"/>
          <p:nvPr/>
        </p:nvSpPr>
        <p:spPr>
          <a:xfrm>
            <a:off x="6263640" y="14173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Tiru ubah_harga()</a:t>
            </a:r>
            <a:endParaRPr lang="en-US" sz="1400" dirty="0"/>
          </a:p>
        </p:txBody>
      </p:sp>
      <p:sp>
        <p:nvSpPr>
          <p:cNvPr id="11" name="teks-125"/>
          <p:cNvSpPr txBox="1"/>
          <p:nvPr/>
        </p:nvSpPr>
        <p:spPr>
          <a:xfrm>
            <a:off x="6263640" y="1691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Polanya sama; yang berbeda hanya perintah SQL dan parameternya.</a:t>
            </a:r>
            <a:endParaRPr lang="en-US" sz="1200" dirty="0"/>
          </a:p>
        </p:txBody>
      </p:sp>
      <p:sp>
        <p:nvSpPr>
          <p:cNvPr id="12" name="kartu-126"/>
          <p:cNvSpPr/>
          <p:nvPr/>
        </p:nvSpPr>
        <p:spPr>
          <a:xfrm>
            <a:off x="5532120" y="2395728"/>
            <a:ext cx="3154680" cy="941832"/>
          </a:xfrm>
          <a:prstGeom prst="roundRect">
            <a:avLst>
              <a:gd name="adj" fmla="val 7767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13" name="lingkar-ikon-127"/>
          <p:cNvSpPr/>
          <p:nvPr/>
        </p:nvSpPr>
        <p:spPr>
          <a:xfrm>
            <a:off x="5669280" y="2578608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14" name="ikon-12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152" y="2697480"/>
            <a:ext cx="219456" cy="219456"/>
          </a:xfrm>
          <a:prstGeom prst="rect">
            <a:avLst/>
          </a:prstGeom>
        </p:spPr>
      </p:pic>
      <p:sp>
        <p:nvSpPr>
          <p:cNvPr id="15" name="teks-129"/>
          <p:cNvSpPr txBox="1"/>
          <p:nvPr/>
        </p:nvSpPr>
        <p:spPr>
          <a:xfrm>
            <a:off x="6263640" y="24871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WHERE wajib</a:t>
            </a:r>
            <a:endParaRPr lang="en-US" sz="1400" dirty="0"/>
          </a:p>
        </p:txBody>
      </p:sp>
      <p:sp>
        <p:nvSpPr>
          <p:cNvPr id="16" name="teks-130"/>
          <p:cNvSpPr txBox="1"/>
          <p:nvPr/>
        </p:nvSpPr>
        <p:spPr>
          <a:xfrm>
            <a:off x="6263640" y="276148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DELETE tanpa WHERE menghapus SEMUA produk.</a:t>
            </a:r>
            <a:endParaRPr lang="en-US" sz="1200" dirty="0"/>
          </a:p>
        </p:txBody>
      </p:sp>
      <p:sp>
        <p:nvSpPr>
          <p:cNvPr id="17" name="kartu-131"/>
          <p:cNvSpPr/>
          <p:nvPr/>
        </p:nvSpPr>
        <p:spPr>
          <a:xfrm>
            <a:off x="5532120" y="3465576"/>
            <a:ext cx="3154680" cy="941832"/>
          </a:xfrm>
          <a:prstGeom prst="roundRect">
            <a:avLst>
              <a:gd name="adj" fmla="val 7767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18" name="lingkar-ikon-132"/>
          <p:cNvSpPr/>
          <p:nvPr/>
        </p:nvSpPr>
        <p:spPr>
          <a:xfrm>
            <a:off x="5669280" y="3648456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19" name="ikon-13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8152" y="3767328"/>
            <a:ext cx="219456" cy="219456"/>
          </a:xfrm>
          <a:prstGeom prst="rect">
            <a:avLst/>
          </a:prstGeom>
        </p:spPr>
      </p:pic>
      <p:sp>
        <p:nvSpPr>
          <p:cNvPr id="20" name="teks-134"/>
          <p:cNvSpPr txBox="1"/>
          <p:nvPr/>
        </p:nvSpPr>
        <p:spPr>
          <a:xfrm>
            <a:off x="6263640" y="35570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Perhatikan koma</a:t>
            </a:r>
            <a:endParaRPr lang="en-US" sz="1400" dirty="0"/>
          </a:p>
        </p:txBody>
      </p:sp>
      <p:sp>
        <p:nvSpPr>
          <p:cNvPr id="21" name="teks-135"/>
          <p:cNvSpPr txBox="1"/>
          <p:nvPr/>
        </p:nvSpPr>
        <p:spPr>
          <a:xfrm>
            <a:off x="6263640" y="383133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(id_produk,) adalah tuple satu elemen. Tanpa koma, Python tidak menganggapnya tuple.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MENIT 35–50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Jalankan app.py di browser</a:t>
            </a:r>
            <a:endParaRPr lang="en-US" sz="3000" dirty="0"/>
          </a:p>
        </p:txBody>
      </p:sp>
      <p:sp>
        <p:nvSpPr>
          <p:cNvPr id="5" name="kartu-136"/>
          <p:cNvSpPr/>
          <p:nvPr/>
        </p:nvSpPr>
        <p:spPr>
          <a:xfrm>
            <a:off x="457200" y="1325880"/>
            <a:ext cx="1920240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6" name="lingkar-ikon-137"/>
          <p:cNvSpPr/>
          <p:nvPr/>
        </p:nvSpPr>
        <p:spPr>
          <a:xfrm>
            <a:off x="594360" y="1481328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7" name="ikon-13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" y="1612087"/>
            <a:ext cx="241402" cy="241402"/>
          </a:xfrm>
          <a:prstGeom prst="rect">
            <a:avLst/>
          </a:prstGeom>
        </p:spPr>
      </p:pic>
      <p:sp>
        <p:nvSpPr>
          <p:cNvPr id="8" name="teks-139"/>
          <p:cNvSpPr txBox="1"/>
          <p:nvPr/>
        </p:nvSpPr>
        <p:spPr>
          <a:xfrm>
            <a:off x="1828800" y="14630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ks-140"/>
          <p:cNvSpPr txBox="1"/>
          <p:nvPr/>
        </p:nvSpPr>
        <p:spPr>
          <a:xfrm>
            <a:off x="594360" y="21031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Jalankan</a:t>
            </a:r>
            <a:endParaRPr lang="en-US" sz="1500" dirty="0"/>
          </a:p>
        </p:txBody>
      </p:sp>
      <p:sp>
        <p:nvSpPr>
          <p:cNvPr id="10" name="teks-141"/>
          <p:cNvSpPr txBox="1"/>
          <p:nvPr/>
        </p:nvSpPr>
        <p:spPr>
          <a:xfrm>
            <a:off x="594360" y="2432304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streamlit run app.py</a:t>
            </a:r>
            <a:endParaRPr lang="en-US" sz="1200" dirty="0"/>
          </a:p>
        </p:txBody>
      </p:sp>
      <p:sp>
        <p:nvSpPr>
          <p:cNvPr id="11" name="kartu-142"/>
          <p:cNvSpPr/>
          <p:nvPr/>
        </p:nvSpPr>
        <p:spPr>
          <a:xfrm>
            <a:off x="2560320" y="1325880"/>
            <a:ext cx="1920240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12" name="lingkar-ikon-143"/>
          <p:cNvSpPr/>
          <p:nvPr/>
        </p:nvSpPr>
        <p:spPr>
          <a:xfrm>
            <a:off x="2697480" y="148132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13" name="ikon-14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8239" y="1612087"/>
            <a:ext cx="241402" cy="241402"/>
          </a:xfrm>
          <a:prstGeom prst="rect">
            <a:avLst/>
          </a:prstGeom>
        </p:spPr>
      </p:pic>
      <p:sp>
        <p:nvSpPr>
          <p:cNvPr id="14" name="teks-145"/>
          <p:cNvSpPr txBox="1"/>
          <p:nvPr/>
        </p:nvSpPr>
        <p:spPr>
          <a:xfrm>
            <a:off x="3931920" y="14630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ks-146"/>
          <p:cNvSpPr txBox="1"/>
          <p:nvPr/>
        </p:nvSpPr>
        <p:spPr>
          <a:xfrm>
            <a:off x="2697480" y="21031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Buka browser</a:t>
            </a:r>
            <a:endParaRPr lang="en-US" sz="1500" dirty="0"/>
          </a:p>
        </p:txBody>
      </p:sp>
      <p:sp>
        <p:nvSpPr>
          <p:cNvPr id="16" name="teks-147"/>
          <p:cNvSpPr txBox="1"/>
          <p:nvPr/>
        </p:nvSpPr>
        <p:spPr>
          <a:xfrm>
            <a:off x="2697480" y="2432304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Halaman Kelola Produk di localhost:8501</a:t>
            </a:r>
            <a:endParaRPr lang="en-US" sz="1300" dirty="0"/>
          </a:p>
        </p:txBody>
      </p:sp>
      <p:sp>
        <p:nvSpPr>
          <p:cNvPr id="17" name="kartu-148"/>
          <p:cNvSpPr/>
          <p:nvPr/>
        </p:nvSpPr>
        <p:spPr>
          <a:xfrm>
            <a:off x="4663440" y="1325880"/>
            <a:ext cx="1920240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18" name="lingkar-ikon-149"/>
          <p:cNvSpPr/>
          <p:nvPr/>
        </p:nvSpPr>
        <p:spPr>
          <a:xfrm>
            <a:off x="4800600" y="148132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19" name="ikon-15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1359" y="1612087"/>
            <a:ext cx="241402" cy="241402"/>
          </a:xfrm>
          <a:prstGeom prst="rect">
            <a:avLst/>
          </a:prstGeom>
        </p:spPr>
      </p:pic>
      <p:sp>
        <p:nvSpPr>
          <p:cNvPr id="20" name="teks-151"/>
          <p:cNvSpPr txBox="1"/>
          <p:nvPr/>
        </p:nvSpPr>
        <p:spPr>
          <a:xfrm>
            <a:off x="6035040" y="14630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ks-152"/>
          <p:cNvSpPr txBox="1"/>
          <p:nvPr/>
        </p:nvSpPr>
        <p:spPr>
          <a:xfrm>
            <a:off x="4800600" y="21031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Coba tambah</a:t>
            </a:r>
            <a:endParaRPr lang="en-US" sz="1500" dirty="0"/>
          </a:p>
        </p:txBody>
      </p:sp>
      <p:sp>
        <p:nvSpPr>
          <p:cNvPr id="22" name="teks-153"/>
          <p:cNvSpPr txBox="1"/>
          <p:nvPr/>
        </p:nvSpPr>
        <p:spPr>
          <a:xfrm>
            <a:off x="4800600" y="2432304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Isi produk, tekan Simpan, lihat tabel di bawah</a:t>
            </a:r>
            <a:endParaRPr lang="en-US" sz="1300" dirty="0"/>
          </a:p>
        </p:txBody>
      </p:sp>
      <p:sp>
        <p:nvSpPr>
          <p:cNvPr id="23" name="kartu-154"/>
          <p:cNvSpPr/>
          <p:nvPr/>
        </p:nvSpPr>
        <p:spPr>
          <a:xfrm>
            <a:off x="6766560" y="1325880"/>
            <a:ext cx="1920240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24" name="lingkar-ikon-155"/>
          <p:cNvSpPr/>
          <p:nvPr/>
        </p:nvSpPr>
        <p:spPr>
          <a:xfrm>
            <a:off x="6903720" y="148132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25" name="ikon-15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4479" y="1612087"/>
            <a:ext cx="241402" cy="241402"/>
          </a:xfrm>
          <a:prstGeom prst="rect">
            <a:avLst/>
          </a:prstGeom>
        </p:spPr>
      </p:pic>
      <p:sp>
        <p:nvSpPr>
          <p:cNvPr id="26" name="teks-157"/>
          <p:cNvSpPr txBox="1"/>
          <p:nvPr/>
        </p:nvSpPr>
        <p:spPr>
          <a:xfrm>
            <a:off x="8138160" y="14630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7" name="teks-158"/>
          <p:cNvSpPr txBox="1"/>
          <p:nvPr/>
        </p:nvSpPr>
        <p:spPr>
          <a:xfrm>
            <a:off x="6903720" y="21031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Berhenti</a:t>
            </a:r>
            <a:endParaRPr lang="en-US" sz="1500" dirty="0"/>
          </a:p>
        </p:txBody>
      </p:sp>
      <p:sp>
        <p:nvSpPr>
          <p:cNvPr id="28" name="teks-159"/>
          <p:cNvSpPr txBox="1"/>
          <p:nvPr/>
        </p:nvSpPr>
        <p:spPr>
          <a:xfrm>
            <a:off x="6903720" y="2432304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Klik terminal, tekan Ctrl+C</a:t>
            </a:r>
            <a:endParaRPr lang="en-US" sz="1300" dirty="0"/>
          </a:p>
        </p:txBody>
      </p:sp>
      <p:sp>
        <p:nvSpPr>
          <p:cNvPr id="29" name="kotak-kode-160"/>
          <p:cNvSpPr/>
          <p:nvPr/>
        </p:nvSpPr>
        <p:spPr>
          <a:xfrm>
            <a:off x="457200" y="3429000"/>
            <a:ext cx="822960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30" name="kode-161"/>
          <p:cNvSpPr txBox="1"/>
          <p:nvPr/>
        </p:nvSpPr>
        <p:spPr>
          <a:xfrm>
            <a:off x="640080" y="35661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setelah perintah dijalankan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can now view your Streamlit app in your browser.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URL: http://localhost:8501</a:t>
            </a:r>
            <a:endParaRPr lang="en-US" sz="12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KONSEP KUNCI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Setiap tombol ditekan, app.py dijalankan ulang</a:t>
            </a:r>
            <a:endParaRPr lang="en-US" sz="3000" dirty="0"/>
          </a:p>
        </p:txBody>
      </p:sp>
      <p:sp>
        <p:nvSpPr>
          <p:cNvPr id="5" name="kartu-162"/>
          <p:cNvSpPr/>
          <p:nvPr/>
        </p:nvSpPr>
        <p:spPr>
          <a:xfrm>
            <a:off x="457200" y="1371600"/>
            <a:ext cx="178308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6" name="lingkar-ikon-163"/>
          <p:cNvSpPr/>
          <p:nvPr/>
        </p:nvSpPr>
        <p:spPr>
          <a:xfrm>
            <a:off x="1097280" y="150876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7" name="ikon-16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039" y="1639519"/>
            <a:ext cx="241402" cy="241402"/>
          </a:xfrm>
          <a:prstGeom prst="rect">
            <a:avLst/>
          </a:prstGeom>
        </p:spPr>
      </p:pic>
      <p:sp>
        <p:nvSpPr>
          <p:cNvPr id="8" name="teks-165"/>
          <p:cNvSpPr txBox="1"/>
          <p:nvPr/>
        </p:nvSpPr>
        <p:spPr>
          <a:xfrm>
            <a:off x="566928" y="2103120"/>
            <a:ext cx="1563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Pengguna menekan tombol</a:t>
            </a:r>
            <a:endParaRPr lang="en-US" sz="1400" dirty="0"/>
          </a:p>
        </p:txBody>
      </p:sp>
      <p:sp>
        <p:nvSpPr>
          <p:cNvPr id="9" name="panah-166"/>
          <p:cNvSpPr/>
          <p:nvPr/>
        </p:nvSpPr>
        <p:spPr>
          <a:xfrm>
            <a:off x="2286000" y="2167128"/>
            <a:ext cx="274320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id-ID"/>
          </a:p>
        </p:txBody>
      </p:sp>
      <p:sp>
        <p:nvSpPr>
          <p:cNvPr id="10" name="kartu-167"/>
          <p:cNvSpPr/>
          <p:nvPr/>
        </p:nvSpPr>
        <p:spPr>
          <a:xfrm>
            <a:off x="2606040" y="1371600"/>
            <a:ext cx="178308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11" name="lingkar-ikon-168"/>
          <p:cNvSpPr/>
          <p:nvPr/>
        </p:nvSpPr>
        <p:spPr>
          <a:xfrm>
            <a:off x="3246120" y="150876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12" name="ikon-16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6879" y="1639519"/>
            <a:ext cx="241402" cy="241402"/>
          </a:xfrm>
          <a:prstGeom prst="rect">
            <a:avLst/>
          </a:prstGeom>
        </p:spPr>
      </p:pic>
      <p:sp>
        <p:nvSpPr>
          <p:cNvPr id="13" name="teks-170"/>
          <p:cNvSpPr txBox="1"/>
          <p:nvPr/>
        </p:nvSpPr>
        <p:spPr>
          <a:xfrm>
            <a:off x="2715768" y="2103120"/>
            <a:ext cx="1563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app.py dijalankan dari baris pertama</a:t>
            </a:r>
            <a:endParaRPr lang="en-US" sz="1400" dirty="0"/>
          </a:p>
        </p:txBody>
      </p:sp>
      <p:sp>
        <p:nvSpPr>
          <p:cNvPr id="14" name="panah-171"/>
          <p:cNvSpPr/>
          <p:nvPr/>
        </p:nvSpPr>
        <p:spPr>
          <a:xfrm>
            <a:off x="4434840" y="2167128"/>
            <a:ext cx="274320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id-ID"/>
          </a:p>
        </p:txBody>
      </p:sp>
      <p:sp>
        <p:nvSpPr>
          <p:cNvPr id="15" name="kartu-172"/>
          <p:cNvSpPr/>
          <p:nvPr/>
        </p:nvSpPr>
        <p:spPr>
          <a:xfrm>
            <a:off x="4754880" y="1371600"/>
            <a:ext cx="178308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16" name="lingkar-ikon-173"/>
          <p:cNvSpPr/>
          <p:nvPr/>
        </p:nvSpPr>
        <p:spPr>
          <a:xfrm>
            <a:off x="5394960" y="150876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17" name="ikon-17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5719" y="1639519"/>
            <a:ext cx="241402" cy="241402"/>
          </a:xfrm>
          <a:prstGeom prst="rect">
            <a:avLst/>
          </a:prstGeom>
        </p:spPr>
      </p:pic>
      <p:sp>
        <p:nvSpPr>
          <p:cNvPr id="18" name="teks-175"/>
          <p:cNvSpPr txBox="1"/>
          <p:nvPr/>
        </p:nvSpPr>
        <p:spPr>
          <a:xfrm>
            <a:off x="4864608" y="2103120"/>
            <a:ext cx="1563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Blok if tombol memproses perubahan</a:t>
            </a:r>
            <a:endParaRPr lang="en-US" sz="1400" dirty="0"/>
          </a:p>
        </p:txBody>
      </p:sp>
      <p:sp>
        <p:nvSpPr>
          <p:cNvPr id="19" name="panah-176"/>
          <p:cNvSpPr/>
          <p:nvPr/>
        </p:nvSpPr>
        <p:spPr>
          <a:xfrm>
            <a:off x="6583680" y="2167128"/>
            <a:ext cx="274320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id-ID"/>
          </a:p>
        </p:txBody>
      </p:sp>
      <p:sp>
        <p:nvSpPr>
          <p:cNvPr id="20" name="kartu-177"/>
          <p:cNvSpPr/>
          <p:nvPr/>
        </p:nvSpPr>
        <p:spPr>
          <a:xfrm>
            <a:off x="6903720" y="1371600"/>
            <a:ext cx="178308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21" name="lingkar-ikon-178"/>
          <p:cNvSpPr/>
          <p:nvPr/>
        </p:nvSpPr>
        <p:spPr>
          <a:xfrm>
            <a:off x="7543800" y="150876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22" name="ikon-17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4559" y="1639519"/>
            <a:ext cx="241402" cy="241402"/>
          </a:xfrm>
          <a:prstGeom prst="rect">
            <a:avLst/>
          </a:prstGeom>
        </p:spPr>
      </p:pic>
      <p:sp>
        <p:nvSpPr>
          <p:cNvPr id="23" name="teks-180"/>
          <p:cNvSpPr txBox="1"/>
          <p:nvPr/>
        </p:nvSpPr>
        <p:spPr>
          <a:xfrm>
            <a:off x="7013448" y="2103120"/>
            <a:ext cx="15636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Tabel dibaca paling akhir: data terbaru</a:t>
            </a:r>
            <a:endParaRPr lang="en-US" sz="1400" dirty="0"/>
          </a:p>
        </p:txBody>
      </p:sp>
      <p:sp>
        <p:nvSpPr>
          <p:cNvPr id="24" name="balik-181"/>
          <p:cNvSpPr/>
          <p:nvPr/>
        </p:nvSpPr>
        <p:spPr>
          <a:xfrm>
            <a:off x="1344168" y="2971800"/>
            <a:ext cx="914" cy="2743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headEnd type="triangle"/>
          </a:ln>
        </p:spPr>
        <p:txBody>
          <a:bodyPr/>
          <a:lstStyle/>
          <a:p>
            <a:endParaRPr lang="id-ID"/>
          </a:p>
        </p:txBody>
      </p:sp>
      <p:sp>
        <p:nvSpPr>
          <p:cNvPr id="25" name="balik-182"/>
          <p:cNvSpPr/>
          <p:nvPr/>
        </p:nvSpPr>
        <p:spPr>
          <a:xfrm>
            <a:off x="1344168" y="3246120"/>
            <a:ext cx="6446520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6" name="balik-183"/>
          <p:cNvSpPr/>
          <p:nvPr/>
        </p:nvSpPr>
        <p:spPr>
          <a:xfrm>
            <a:off x="7790688" y="2971800"/>
            <a:ext cx="914" cy="2743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7" name="teks-184"/>
          <p:cNvSpPr txBox="1"/>
          <p:nvPr/>
        </p:nvSpPr>
        <p:spPr>
          <a:xfrm>
            <a:off x="3840480" y="32918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5"/>
                </a:solidFill>
              </a:rPr>
              <a:t>aksi berikutnya</a:t>
            </a:r>
            <a:endParaRPr lang="en-US" sz="1100" dirty="0"/>
          </a:p>
        </p:txBody>
      </p:sp>
      <p:sp>
        <p:nvSpPr>
          <p:cNvPr id="28" name="kartu-185"/>
          <p:cNvSpPr/>
          <p:nvPr/>
        </p:nvSpPr>
        <p:spPr>
          <a:xfrm>
            <a:off x="457200" y="365760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29" name="teks-186"/>
          <p:cNvSpPr txBox="1"/>
          <p:nvPr/>
        </p:nvSpPr>
        <p:spPr>
          <a:xfrm>
            <a:off x="640080" y="3657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Akibatnya: </a:t>
            </a:r>
            <a:r>
              <a:rPr lang="en-US" sz="1400" dirty="0">
                <a:solidFill>
                  <a:schemeClr val="tx1"/>
                </a:solidFill>
              </a:rPr>
              <a:t>isian di dalam st.form baru dikirim saat tombol formulir ditekan, dan tabel Daftar produk sengaja diletakkan paling bawah app.py.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KOSAKATA STREAMLIT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Komponen yang dipakai hari ini</a:t>
            </a:r>
            <a:endParaRPr lang="en-US" sz="3000" dirty="0"/>
          </a:p>
        </p:txBody>
      </p:sp>
      <p:sp>
        <p:nvSpPr>
          <p:cNvPr id="5" name="kartu-187"/>
          <p:cNvSpPr/>
          <p:nvPr/>
        </p:nvSpPr>
        <p:spPr>
          <a:xfrm>
            <a:off x="457200" y="1325880"/>
            <a:ext cx="2606040" cy="932688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6" name="teks-188"/>
          <p:cNvSpPr txBox="1"/>
          <p:nvPr/>
        </p:nvSpPr>
        <p:spPr>
          <a:xfrm>
            <a:off x="621792" y="14356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st.form</a:t>
            </a:r>
            <a:endParaRPr lang="en-US" sz="1300" dirty="0"/>
          </a:p>
        </p:txBody>
      </p:sp>
      <p:sp>
        <p:nvSpPr>
          <p:cNvPr id="7" name="teks-189"/>
          <p:cNvSpPr txBox="1"/>
          <p:nvPr/>
        </p:nvSpPr>
        <p:spPr>
          <a:xfrm>
            <a:off x="621792" y="17556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Mengelompokkan isian sampai tombol ditekan</a:t>
            </a:r>
            <a:endParaRPr lang="en-US" sz="1300" dirty="0"/>
          </a:p>
        </p:txBody>
      </p:sp>
      <p:sp>
        <p:nvSpPr>
          <p:cNvPr id="8" name="kartu-190"/>
          <p:cNvSpPr/>
          <p:nvPr/>
        </p:nvSpPr>
        <p:spPr>
          <a:xfrm>
            <a:off x="3246120" y="1325880"/>
            <a:ext cx="2606040" cy="932688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9" name="teks-191"/>
          <p:cNvSpPr txBox="1"/>
          <p:nvPr/>
        </p:nvSpPr>
        <p:spPr>
          <a:xfrm>
            <a:off x="3410712" y="14356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st.text_input</a:t>
            </a:r>
            <a:endParaRPr lang="en-US" sz="1300" dirty="0"/>
          </a:p>
        </p:txBody>
      </p:sp>
      <p:sp>
        <p:nvSpPr>
          <p:cNvPr id="10" name="teks-192"/>
          <p:cNvSpPr txBox="1"/>
          <p:nvPr/>
        </p:nvSpPr>
        <p:spPr>
          <a:xfrm>
            <a:off x="3410712" y="17556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Kotak isian teks, misalnya nama produk</a:t>
            </a:r>
            <a:endParaRPr lang="en-US" sz="1300" dirty="0"/>
          </a:p>
        </p:txBody>
      </p:sp>
      <p:sp>
        <p:nvSpPr>
          <p:cNvPr id="11" name="kartu-193"/>
          <p:cNvSpPr/>
          <p:nvPr/>
        </p:nvSpPr>
        <p:spPr>
          <a:xfrm>
            <a:off x="6035040" y="1325880"/>
            <a:ext cx="2606040" cy="932688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12" name="teks-194"/>
          <p:cNvSpPr txBox="1"/>
          <p:nvPr/>
        </p:nvSpPr>
        <p:spPr>
          <a:xfrm>
            <a:off x="6199632" y="14356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st.number_input</a:t>
            </a:r>
            <a:endParaRPr lang="en-US" sz="1300" dirty="0"/>
          </a:p>
        </p:txBody>
      </p:sp>
      <p:sp>
        <p:nvSpPr>
          <p:cNvPr id="13" name="teks-195"/>
          <p:cNvSpPr txBox="1"/>
          <p:nvPr/>
        </p:nvSpPr>
        <p:spPr>
          <a:xfrm>
            <a:off x="6199632" y="17556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Hanya angka; step=1 berarti angka bulat</a:t>
            </a:r>
            <a:endParaRPr lang="en-US" sz="1300" dirty="0"/>
          </a:p>
        </p:txBody>
      </p:sp>
      <p:sp>
        <p:nvSpPr>
          <p:cNvPr id="14" name="kartu-196"/>
          <p:cNvSpPr/>
          <p:nvPr/>
        </p:nvSpPr>
        <p:spPr>
          <a:xfrm>
            <a:off x="457200" y="2423160"/>
            <a:ext cx="2606040" cy="932688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15" name="teks-197"/>
          <p:cNvSpPr txBox="1"/>
          <p:nvPr/>
        </p:nvSpPr>
        <p:spPr>
          <a:xfrm>
            <a:off x="621792" y="25328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st.form_submit_button</a:t>
            </a:r>
            <a:endParaRPr lang="en-US" sz="1300" dirty="0"/>
          </a:p>
        </p:txBody>
      </p:sp>
      <p:sp>
        <p:nvSpPr>
          <p:cNvPr id="16" name="teks-198"/>
          <p:cNvSpPr txBox="1"/>
          <p:nvPr/>
        </p:nvSpPr>
        <p:spPr>
          <a:xfrm>
            <a:off x="621792" y="28529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Tombol yang mengirim isi formulir</a:t>
            </a:r>
            <a:endParaRPr lang="en-US" sz="1300" dirty="0"/>
          </a:p>
        </p:txBody>
      </p:sp>
      <p:sp>
        <p:nvSpPr>
          <p:cNvPr id="17" name="kartu-199"/>
          <p:cNvSpPr/>
          <p:nvPr/>
        </p:nvSpPr>
        <p:spPr>
          <a:xfrm>
            <a:off x="3246120" y="2423160"/>
            <a:ext cx="2606040" cy="932688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18" name="teks-200"/>
          <p:cNvSpPr txBox="1"/>
          <p:nvPr/>
        </p:nvSpPr>
        <p:spPr>
          <a:xfrm>
            <a:off x="3410712" y="25328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st.checkbox</a:t>
            </a:r>
            <a:endParaRPr lang="en-US" sz="1300" dirty="0"/>
          </a:p>
        </p:txBody>
      </p:sp>
      <p:sp>
        <p:nvSpPr>
          <p:cNvPr id="19" name="teks-201"/>
          <p:cNvSpPr txBox="1"/>
          <p:nvPr/>
        </p:nvSpPr>
        <p:spPr>
          <a:xfrm>
            <a:off x="3410712" y="28529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Kotak centang konfirmasi sebelum hapus</a:t>
            </a:r>
            <a:endParaRPr lang="en-US" sz="1300" dirty="0"/>
          </a:p>
        </p:txBody>
      </p:sp>
      <p:sp>
        <p:nvSpPr>
          <p:cNvPr id="20" name="kartu-202"/>
          <p:cNvSpPr/>
          <p:nvPr/>
        </p:nvSpPr>
        <p:spPr>
          <a:xfrm>
            <a:off x="6035040" y="2423160"/>
            <a:ext cx="2606040" cy="932688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21" name="teks-203"/>
          <p:cNvSpPr txBox="1"/>
          <p:nvPr/>
        </p:nvSpPr>
        <p:spPr>
          <a:xfrm>
            <a:off x="6199632" y="25328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st.dataframe</a:t>
            </a:r>
            <a:endParaRPr lang="en-US" sz="1300" dirty="0"/>
          </a:p>
        </p:txBody>
      </p:sp>
      <p:sp>
        <p:nvSpPr>
          <p:cNvPr id="22" name="teks-204"/>
          <p:cNvSpPr txBox="1"/>
          <p:nvPr/>
        </p:nvSpPr>
        <p:spPr>
          <a:xfrm>
            <a:off x="6199632" y="28529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Menampilkan daftar produk sebagai tabel</a:t>
            </a:r>
            <a:endParaRPr lang="en-US" sz="1300" dirty="0"/>
          </a:p>
        </p:txBody>
      </p:sp>
      <p:sp>
        <p:nvSpPr>
          <p:cNvPr id="23" name="teks-205"/>
          <p:cNvSpPr txBox="1"/>
          <p:nvPr/>
        </p:nvSpPr>
        <p:spPr>
          <a:xfrm>
            <a:off x="457200" y="363931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Pesan untuk pengguna:</a:t>
            </a:r>
            <a:endParaRPr lang="en-US" sz="1400" dirty="0"/>
          </a:p>
        </p:txBody>
      </p:sp>
      <p:sp>
        <p:nvSpPr>
          <p:cNvPr id="24" name="pesan-success-206"/>
          <p:cNvSpPr/>
          <p:nvPr/>
        </p:nvSpPr>
        <p:spPr>
          <a:xfrm>
            <a:off x="2423160" y="3639312"/>
            <a:ext cx="1463040" cy="384048"/>
          </a:xfrm>
          <a:prstGeom prst="roundRect">
            <a:avLst>
              <a:gd name="adj" fmla="val 14286"/>
            </a:avLst>
          </a:prstGeom>
          <a:solidFill>
            <a:schemeClr val="accent3">
              <a:alpha val="15000"/>
            </a:schemeClr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5" name="teks-207"/>
          <p:cNvSpPr txBox="1"/>
          <p:nvPr/>
        </p:nvSpPr>
        <p:spPr>
          <a:xfrm>
            <a:off x="2532888" y="3639312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st.success</a:t>
            </a:r>
            <a:endParaRPr lang="en-US" sz="1300" dirty="0"/>
          </a:p>
        </p:txBody>
      </p:sp>
      <p:sp>
        <p:nvSpPr>
          <p:cNvPr id="26" name="pesan-warning-208"/>
          <p:cNvSpPr/>
          <p:nvPr/>
        </p:nvSpPr>
        <p:spPr>
          <a:xfrm>
            <a:off x="4023360" y="3639312"/>
            <a:ext cx="1463040" cy="384048"/>
          </a:xfrm>
          <a:prstGeom prst="roundRect">
            <a:avLst>
              <a:gd name="adj" fmla="val 14286"/>
            </a:avLst>
          </a:prstGeom>
          <a:solidFill>
            <a:schemeClr val="accent1">
              <a:alpha val="15000"/>
            </a:schemeClr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7" name="teks-209"/>
          <p:cNvSpPr txBox="1"/>
          <p:nvPr/>
        </p:nvSpPr>
        <p:spPr>
          <a:xfrm>
            <a:off x="4133088" y="3639312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st.warning</a:t>
            </a:r>
            <a:endParaRPr lang="en-US" sz="1300" dirty="0"/>
          </a:p>
        </p:txBody>
      </p:sp>
      <p:sp>
        <p:nvSpPr>
          <p:cNvPr id="28" name="pesan-error-210"/>
          <p:cNvSpPr/>
          <p:nvPr/>
        </p:nvSpPr>
        <p:spPr>
          <a:xfrm>
            <a:off x="5623560" y="3639312"/>
            <a:ext cx="1463040" cy="384048"/>
          </a:xfrm>
          <a:prstGeom prst="roundRect">
            <a:avLst>
              <a:gd name="adj" fmla="val 14286"/>
            </a:avLst>
          </a:prstGeom>
          <a:solidFill>
            <a:schemeClr val="accent6">
              <a:alpha val="15000"/>
            </a:schemeClr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9" name="teks-211"/>
          <p:cNvSpPr txBox="1"/>
          <p:nvPr/>
        </p:nvSpPr>
        <p:spPr>
          <a:xfrm>
            <a:off x="5733288" y="3639312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st.error</a:t>
            </a:r>
            <a:endParaRPr lang="en-US" sz="1300" dirty="0"/>
          </a:p>
        </p:txBody>
      </p:sp>
      <p:sp>
        <p:nvSpPr>
          <p:cNvPr id="30" name="pesan-info-212"/>
          <p:cNvSpPr/>
          <p:nvPr/>
        </p:nvSpPr>
        <p:spPr>
          <a:xfrm>
            <a:off x="7223760" y="3639312"/>
            <a:ext cx="1463040" cy="384048"/>
          </a:xfrm>
          <a:prstGeom prst="roundRect">
            <a:avLst>
              <a:gd name="adj" fmla="val 14286"/>
            </a:avLst>
          </a:prstGeom>
          <a:solidFill>
            <a:schemeClr val="accent4">
              <a:alpha val="15000"/>
            </a:schemeClr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31" name="teks-213"/>
          <p:cNvSpPr txBox="1"/>
          <p:nvPr/>
        </p:nvSpPr>
        <p:spPr>
          <a:xfrm>
            <a:off x="7333488" y="3639312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st.info</a:t>
            </a:r>
            <a:endParaRPr lang="en-US" sz="1300" dirty="0"/>
          </a:p>
        </p:txBody>
      </p:sp>
      <p:sp>
        <p:nvSpPr>
          <p:cNvPr id="32" name="teks-214"/>
          <p:cNvSpPr txBox="1"/>
          <p:nvPr/>
        </p:nvSpPr>
        <p:spPr>
          <a:xfrm>
            <a:off x="2423160" y="40690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5"/>
                </a:solidFill>
              </a:rPr>
              <a:t>berhasil</a:t>
            </a:r>
            <a:endParaRPr lang="en-US" sz="1100" dirty="0"/>
          </a:p>
        </p:txBody>
      </p:sp>
      <p:sp>
        <p:nvSpPr>
          <p:cNvPr id="33" name="teks-215"/>
          <p:cNvSpPr txBox="1"/>
          <p:nvPr/>
        </p:nvSpPr>
        <p:spPr>
          <a:xfrm>
            <a:off x="4023360" y="40690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5"/>
                </a:solidFill>
              </a:rPr>
              <a:t>perlu perhatian</a:t>
            </a:r>
            <a:endParaRPr lang="en-US" sz="1100" dirty="0"/>
          </a:p>
        </p:txBody>
      </p:sp>
      <p:sp>
        <p:nvSpPr>
          <p:cNvPr id="34" name="teks-216"/>
          <p:cNvSpPr txBox="1"/>
          <p:nvPr/>
        </p:nvSpPr>
        <p:spPr>
          <a:xfrm>
            <a:off x="5623560" y="40690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5"/>
                </a:solidFill>
              </a:rPr>
              <a:t>ditolak / gagal</a:t>
            </a:r>
            <a:endParaRPr lang="en-US" sz="1100" dirty="0"/>
          </a:p>
        </p:txBody>
      </p:sp>
      <p:sp>
        <p:nvSpPr>
          <p:cNvPr id="35" name="teks-217"/>
          <p:cNvSpPr txBox="1"/>
          <p:nvPr/>
        </p:nvSpPr>
        <p:spPr>
          <a:xfrm>
            <a:off x="7223760" y="40690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5"/>
                </a:solidFill>
              </a:rPr>
              <a:t>keterangan</a:t>
            </a:r>
            <a:endParaRPr lang="en-US" sz="11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SUDAH JADI · CONTOH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Anatomi bagian Tambah produk</a:t>
            </a:r>
            <a:endParaRPr lang="en-US" sz="3000" dirty="0"/>
          </a:p>
        </p:txBody>
      </p:sp>
      <p:sp>
        <p:nvSpPr>
          <p:cNvPr id="5" name="kotak-kode-218"/>
          <p:cNvSpPr/>
          <p:nvPr/>
        </p:nvSpPr>
        <p:spPr>
          <a:xfrm>
            <a:off x="457200" y="1280160"/>
            <a:ext cx="5349240" cy="3246120"/>
          </a:xfrm>
          <a:prstGeom prst="roundRect">
            <a:avLst>
              <a:gd name="adj" fmla="val 2254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6" name="kode-219"/>
          <p:cNvSpPr txBox="1"/>
          <p:nvPr/>
        </p:nvSpPr>
        <p:spPr>
          <a:xfrm>
            <a:off x="640080" y="1417320"/>
            <a:ext cx="49834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 (potongan)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st.form("form_tambah", clear_on_submit=True):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nama = st.text_input("Nama produk")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harga = st.number_input("Harga", step=1, value=0)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stok = st.number_input("Stok", min_value=0, step=1)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tombol_tambah = st.form_submit_button("Simpan")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tombol_tambah: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nama.strip() == "":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st.error("Nama produk wajib diisi.")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try: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database.tambah_produk(nama.strip(), harga, stok)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st.success("Produk tersimpan.")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except sqlite3.IntegrityError as e: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st.error(f"Database menolak data: {e}")</a:t>
            </a:r>
            <a:endParaRPr lang="en-US" sz="1100" dirty="0"/>
          </a:p>
        </p:txBody>
      </p:sp>
      <p:sp>
        <p:nvSpPr>
          <p:cNvPr id="7" name="kartu-220"/>
          <p:cNvSpPr/>
          <p:nvPr/>
        </p:nvSpPr>
        <p:spPr>
          <a:xfrm>
            <a:off x="6035040" y="1280160"/>
            <a:ext cx="265176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8" name="pil-221"/>
          <p:cNvSpPr/>
          <p:nvPr/>
        </p:nvSpPr>
        <p:spPr>
          <a:xfrm>
            <a:off x="6144768" y="1463040"/>
            <a:ext cx="347472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9" name="teks-222"/>
          <p:cNvSpPr txBox="1"/>
          <p:nvPr/>
        </p:nvSpPr>
        <p:spPr>
          <a:xfrm>
            <a:off x="6144768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ks-223"/>
          <p:cNvSpPr txBox="1"/>
          <p:nvPr/>
        </p:nvSpPr>
        <p:spPr>
          <a:xfrm>
            <a:off x="6601968" y="1353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Formulir</a:t>
            </a:r>
            <a:endParaRPr lang="en-US" sz="1400" dirty="0"/>
          </a:p>
        </p:txBody>
      </p:sp>
      <p:sp>
        <p:nvSpPr>
          <p:cNvPr id="11" name="teks-224"/>
          <p:cNvSpPr txBox="1"/>
          <p:nvPr/>
        </p:nvSpPr>
        <p:spPr>
          <a:xfrm>
            <a:off x="6601968" y="16276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Tiga isian + satu tombol</a:t>
            </a:r>
            <a:endParaRPr lang="en-US" sz="1200" dirty="0"/>
          </a:p>
        </p:txBody>
      </p:sp>
      <p:sp>
        <p:nvSpPr>
          <p:cNvPr id="12" name="kartu-225"/>
          <p:cNvSpPr/>
          <p:nvPr/>
        </p:nvSpPr>
        <p:spPr>
          <a:xfrm>
            <a:off x="6035040" y="2103120"/>
            <a:ext cx="265176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13" name="pil-226"/>
          <p:cNvSpPr/>
          <p:nvPr/>
        </p:nvSpPr>
        <p:spPr>
          <a:xfrm>
            <a:off x="6144768" y="2286000"/>
            <a:ext cx="347472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4" name="teks-227"/>
          <p:cNvSpPr txBox="1"/>
          <p:nvPr/>
        </p:nvSpPr>
        <p:spPr>
          <a:xfrm>
            <a:off x="6144768" y="2286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ks-228"/>
          <p:cNvSpPr txBox="1"/>
          <p:nvPr/>
        </p:nvSpPr>
        <p:spPr>
          <a:xfrm>
            <a:off x="6601968" y="2176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if tombol</a:t>
            </a:r>
            <a:endParaRPr lang="en-US" sz="1400" dirty="0"/>
          </a:p>
        </p:txBody>
      </p:sp>
      <p:sp>
        <p:nvSpPr>
          <p:cNvPr id="16" name="teks-229"/>
          <p:cNvSpPr txBox="1"/>
          <p:nvPr/>
        </p:nvSpPr>
        <p:spPr>
          <a:xfrm>
            <a:off x="6601968" y="24505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Hanya saat tombol ditekan</a:t>
            </a:r>
            <a:endParaRPr lang="en-US" sz="1200" dirty="0"/>
          </a:p>
        </p:txBody>
      </p:sp>
      <p:sp>
        <p:nvSpPr>
          <p:cNvPr id="17" name="kartu-230"/>
          <p:cNvSpPr/>
          <p:nvPr/>
        </p:nvSpPr>
        <p:spPr>
          <a:xfrm>
            <a:off x="6035040" y="2926080"/>
            <a:ext cx="265176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18" name="pil-231"/>
          <p:cNvSpPr/>
          <p:nvPr/>
        </p:nvSpPr>
        <p:spPr>
          <a:xfrm>
            <a:off x="6144768" y="3108960"/>
            <a:ext cx="347472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9" name="teks-232"/>
          <p:cNvSpPr txBox="1"/>
          <p:nvPr/>
        </p:nvSpPr>
        <p:spPr>
          <a:xfrm>
            <a:off x="6144768" y="3108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ks-233"/>
          <p:cNvSpPr txBox="1"/>
          <p:nvPr/>
        </p:nvSpPr>
        <p:spPr>
          <a:xfrm>
            <a:off x="6601968" y="2999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Lapis Python</a:t>
            </a:r>
            <a:endParaRPr lang="en-US" sz="1400" dirty="0"/>
          </a:p>
        </p:txBody>
      </p:sp>
      <p:sp>
        <p:nvSpPr>
          <p:cNvPr id="21" name="teks-234"/>
          <p:cNvSpPr txBox="1"/>
          <p:nvPr/>
        </p:nvSpPr>
        <p:spPr>
          <a:xfrm>
            <a:off x="6601968" y="32735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Nama kosong ditolak</a:t>
            </a:r>
            <a:endParaRPr lang="en-US" sz="1200" dirty="0"/>
          </a:p>
        </p:txBody>
      </p:sp>
      <p:sp>
        <p:nvSpPr>
          <p:cNvPr id="22" name="kartu-235"/>
          <p:cNvSpPr/>
          <p:nvPr/>
        </p:nvSpPr>
        <p:spPr>
          <a:xfrm>
            <a:off x="6035040" y="3749040"/>
            <a:ext cx="265176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23" name="pil-236"/>
          <p:cNvSpPr/>
          <p:nvPr/>
        </p:nvSpPr>
        <p:spPr>
          <a:xfrm>
            <a:off x="6144768" y="3931920"/>
            <a:ext cx="347472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4" name="teks-237"/>
          <p:cNvSpPr txBox="1"/>
          <p:nvPr/>
        </p:nvSpPr>
        <p:spPr>
          <a:xfrm>
            <a:off x="6144768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ks-238"/>
          <p:cNvSpPr txBox="1"/>
          <p:nvPr/>
        </p:nvSpPr>
        <p:spPr>
          <a:xfrm>
            <a:off x="6601968" y="3822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Lapis database</a:t>
            </a:r>
            <a:endParaRPr lang="en-US" sz="1400" dirty="0"/>
          </a:p>
        </p:txBody>
      </p:sp>
      <p:sp>
        <p:nvSpPr>
          <p:cNvPr id="26" name="teks-239"/>
          <p:cNvSpPr txBox="1"/>
          <p:nvPr/>
        </p:nvSpPr>
        <p:spPr>
          <a:xfrm>
            <a:off x="6601968" y="40965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CHECK/FK jadi pesan</a:t>
            </a:r>
            <a:endParaRPr lang="en-US" sz="1200" dirty="0"/>
          </a:p>
        </p:txBody>
      </p:sp>
      <p:sp>
        <p:nvSpPr>
          <p:cNvPr id="27" name="pil-240"/>
          <p:cNvSpPr/>
          <p:nvPr/>
        </p:nvSpPr>
        <p:spPr>
          <a:xfrm>
            <a:off x="5532120" y="1572768"/>
            <a:ext cx="219456" cy="2194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8" name="teks-241"/>
          <p:cNvSpPr txBox="1"/>
          <p:nvPr/>
        </p:nvSpPr>
        <p:spPr>
          <a:xfrm>
            <a:off x="5532120" y="15727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1</a:t>
            </a:r>
            <a:endParaRPr lang="en-US" sz="1000" dirty="0"/>
          </a:p>
        </p:txBody>
      </p:sp>
      <p:sp>
        <p:nvSpPr>
          <p:cNvPr id="29" name="pil-242"/>
          <p:cNvSpPr/>
          <p:nvPr/>
        </p:nvSpPr>
        <p:spPr>
          <a:xfrm>
            <a:off x="5532120" y="2651760"/>
            <a:ext cx="219456" cy="2194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30" name="teks-243"/>
          <p:cNvSpPr txBox="1"/>
          <p:nvPr/>
        </p:nvSpPr>
        <p:spPr>
          <a:xfrm>
            <a:off x="5532120" y="26517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2</a:t>
            </a:r>
            <a:endParaRPr lang="en-US" sz="1000" dirty="0"/>
          </a:p>
        </p:txBody>
      </p:sp>
      <p:sp>
        <p:nvSpPr>
          <p:cNvPr id="31" name="pil-244"/>
          <p:cNvSpPr/>
          <p:nvPr/>
        </p:nvSpPr>
        <p:spPr>
          <a:xfrm>
            <a:off x="5532120" y="3035808"/>
            <a:ext cx="219456" cy="2194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32" name="teks-245"/>
          <p:cNvSpPr txBox="1"/>
          <p:nvPr/>
        </p:nvSpPr>
        <p:spPr>
          <a:xfrm>
            <a:off x="5532120" y="30358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3</a:t>
            </a:r>
            <a:endParaRPr lang="en-US" sz="1000" dirty="0"/>
          </a:p>
        </p:txBody>
      </p:sp>
      <p:sp>
        <p:nvSpPr>
          <p:cNvPr id="33" name="pil-246"/>
          <p:cNvSpPr/>
          <p:nvPr/>
        </p:nvSpPr>
        <p:spPr>
          <a:xfrm>
            <a:off x="5532120" y="3931920"/>
            <a:ext cx="219456" cy="2194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34" name="teks-247"/>
          <p:cNvSpPr txBox="1"/>
          <p:nvPr/>
        </p:nvSpPr>
        <p:spPr>
          <a:xfrm>
            <a:off x="5532120" y="39319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4</a:t>
            </a:r>
            <a:endParaRPr lang="en-US" sz="10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MENIT 50–70 · LATIHAN E1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Ubah harga: tiga kemungkinan hasil</a:t>
            </a:r>
            <a:endParaRPr lang="en-US" sz="3000" dirty="0"/>
          </a:p>
        </p:txBody>
      </p:sp>
      <p:sp>
        <p:nvSpPr>
          <p:cNvPr id="5" name="kartu-248"/>
          <p:cNvSpPr/>
          <p:nvPr/>
        </p:nvSpPr>
        <p:spPr>
          <a:xfrm>
            <a:off x="457200" y="2057400"/>
            <a:ext cx="219456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6" name="teks-249"/>
          <p:cNvSpPr txBox="1"/>
          <p:nvPr/>
        </p:nvSpPr>
        <p:spPr>
          <a:xfrm>
            <a:off x="548640" y="20574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bg1"/>
                </a:solidFill>
              </a:rPr>
              <a:t>Tombol </a:t>
            </a:r>
            <a:r>
              <a:rPr lang="en-US" sz="1500" b="1" dirty="0">
                <a:solidFill>
                  <a:schemeClr val="accent1"/>
                </a:solidFill>
              </a:rPr>
              <a:t>Ubah harga</a:t>
            </a:r>
            <a:r>
              <a:rPr lang="en-US" sz="1500" dirty="0">
                <a:solidFill>
                  <a:schemeClr val="bg1"/>
                </a:solidFill>
              </a:rPr>
              <a:t> ditekan</a:t>
            </a:r>
            <a:endParaRPr lang="en-US" sz="1500" dirty="0"/>
          </a:p>
        </p:txBody>
      </p:sp>
      <p:sp>
        <p:nvSpPr>
          <p:cNvPr id="7" name="panah-250"/>
          <p:cNvSpPr/>
          <p:nvPr/>
        </p:nvSpPr>
        <p:spPr>
          <a:xfrm>
            <a:off x="2697480" y="2560320"/>
            <a:ext cx="411480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id-ID"/>
          </a:p>
        </p:txBody>
      </p:sp>
      <p:sp>
        <p:nvSpPr>
          <p:cNvPr id="8" name="kartu-251"/>
          <p:cNvSpPr/>
          <p:nvPr/>
        </p:nvSpPr>
        <p:spPr>
          <a:xfrm>
            <a:off x="3154680" y="2057400"/>
            <a:ext cx="219456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9" name="teks-252"/>
          <p:cNvSpPr txBox="1"/>
          <p:nvPr/>
        </p:nvSpPr>
        <p:spPr>
          <a:xfrm>
            <a:off x="3246120" y="20574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database.ubah_harga(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id_ubah,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harga_baru)</a:t>
            </a:r>
            <a:endParaRPr lang="en-US" sz="1200" dirty="0"/>
          </a:p>
        </p:txBody>
      </p:sp>
      <p:sp>
        <p:nvSpPr>
          <p:cNvPr id="10" name="panah-253"/>
          <p:cNvSpPr/>
          <p:nvPr/>
        </p:nvSpPr>
        <p:spPr>
          <a:xfrm flipV="1">
            <a:off x="5394960" y="1737360"/>
            <a:ext cx="411480" cy="82296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id-ID"/>
          </a:p>
        </p:txBody>
      </p:sp>
      <p:sp>
        <p:nvSpPr>
          <p:cNvPr id="11" name="teks-254"/>
          <p:cNvSpPr txBox="1"/>
          <p:nvPr/>
        </p:nvSpPr>
        <p:spPr>
          <a:xfrm>
            <a:off x="589788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hasil 1</a:t>
            </a:r>
            <a:endParaRPr lang="en-US" sz="1300" dirty="0"/>
          </a:p>
        </p:txBody>
      </p:sp>
      <p:sp>
        <p:nvSpPr>
          <p:cNvPr id="12" name="pesan-success-255"/>
          <p:cNvSpPr/>
          <p:nvPr/>
        </p:nvSpPr>
        <p:spPr>
          <a:xfrm>
            <a:off x="5897880" y="1618488"/>
            <a:ext cx="2788920" cy="438912"/>
          </a:xfrm>
          <a:prstGeom prst="roundRect">
            <a:avLst>
              <a:gd name="adj" fmla="val 12500"/>
            </a:avLst>
          </a:prstGeom>
          <a:solidFill>
            <a:schemeClr val="accent3">
              <a:alpha val="15000"/>
            </a:schemeClr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3" name="teks-256"/>
          <p:cNvSpPr txBox="1"/>
          <p:nvPr/>
        </p:nvSpPr>
        <p:spPr>
          <a:xfrm>
            <a:off x="6007608" y="1618488"/>
            <a:ext cx="2569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Harga diubah menjadi 3500.</a:t>
            </a:r>
            <a:endParaRPr lang="en-US" sz="1300" dirty="0"/>
          </a:p>
        </p:txBody>
      </p:sp>
      <p:sp>
        <p:nvSpPr>
          <p:cNvPr id="14" name="panah-257"/>
          <p:cNvSpPr/>
          <p:nvPr/>
        </p:nvSpPr>
        <p:spPr>
          <a:xfrm>
            <a:off x="5394960" y="2560320"/>
            <a:ext cx="411480" cy="201168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id-ID"/>
          </a:p>
        </p:txBody>
      </p:sp>
      <p:sp>
        <p:nvSpPr>
          <p:cNvPr id="15" name="teks-258"/>
          <p:cNvSpPr txBox="1"/>
          <p:nvPr/>
        </p:nvSpPr>
        <p:spPr>
          <a:xfrm>
            <a:off x="5897880" y="2350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hasil 0</a:t>
            </a:r>
            <a:endParaRPr lang="en-US" sz="1300" dirty="0"/>
          </a:p>
        </p:txBody>
      </p:sp>
      <p:sp>
        <p:nvSpPr>
          <p:cNvPr id="16" name="pesan-warning-259"/>
          <p:cNvSpPr/>
          <p:nvPr/>
        </p:nvSpPr>
        <p:spPr>
          <a:xfrm>
            <a:off x="5897880" y="2642616"/>
            <a:ext cx="2788920" cy="438912"/>
          </a:xfrm>
          <a:prstGeom prst="roundRect">
            <a:avLst>
              <a:gd name="adj" fmla="val 12500"/>
            </a:avLst>
          </a:prstGeom>
          <a:solidFill>
            <a:schemeClr val="accent1">
              <a:alpha val="15000"/>
            </a:schemeClr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7" name="teks-260"/>
          <p:cNvSpPr txBox="1"/>
          <p:nvPr/>
        </p:nvSpPr>
        <p:spPr>
          <a:xfrm>
            <a:off x="6007608" y="2642616"/>
            <a:ext cx="2569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ID 999 tidak ditemukan.</a:t>
            </a:r>
            <a:endParaRPr lang="en-US" sz="1300" dirty="0"/>
          </a:p>
        </p:txBody>
      </p:sp>
      <p:sp>
        <p:nvSpPr>
          <p:cNvPr id="18" name="panah-261"/>
          <p:cNvSpPr/>
          <p:nvPr/>
        </p:nvSpPr>
        <p:spPr>
          <a:xfrm>
            <a:off x="5394960" y="2560320"/>
            <a:ext cx="411480" cy="1225296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id-ID"/>
          </a:p>
        </p:txBody>
      </p:sp>
      <p:sp>
        <p:nvSpPr>
          <p:cNvPr id="19" name="teks-262"/>
          <p:cNvSpPr txBox="1"/>
          <p:nvPr/>
        </p:nvSpPr>
        <p:spPr>
          <a:xfrm>
            <a:off x="5897880" y="33741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IntegrityError</a:t>
            </a:r>
            <a:endParaRPr lang="en-US" sz="1300" dirty="0"/>
          </a:p>
        </p:txBody>
      </p:sp>
      <p:sp>
        <p:nvSpPr>
          <p:cNvPr id="20" name="pesan-error-263"/>
          <p:cNvSpPr/>
          <p:nvPr/>
        </p:nvSpPr>
        <p:spPr>
          <a:xfrm>
            <a:off x="5897880" y="3666744"/>
            <a:ext cx="2788920" cy="438912"/>
          </a:xfrm>
          <a:prstGeom prst="roundRect">
            <a:avLst>
              <a:gd name="adj" fmla="val 12500"/>
            </a:avLst>
          </a:prstGeom>
          <a:solidFill>
            <a:schemeClr val="accent6">
              <a:alpha val="15000"/>
            </a:schemeClr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1" name="teks-264"/>
          <p:cNvSpPr txBox="1"/>
          <p:nvPr/>
        </p:nvSpPr>
        <p:spPr>
          <a:xfrm>
            <a:off x="6007608" y="3666744"/>
            <a:ext cx="2569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Database menolak data (harga ≤ 0).</a:t>
            </a:r>
            <a:endParaRPr lang="en-US" sz="1300" dirty="0"/>
          </a:p>
        </p:txBody>
      </p:sp>
      <p:sp>
        <p:nvSpPr>
          <p:cNvPr id="22" name="teks-265"/>
          <p:cNvSpPr txBox="1"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Contoh pola ada di bagian Tambah produk; ikuti komentar # LATIHAN E1 di app.py.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MENIT 50–70 · LATIHAN E2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Hapus: konfirmasi dulu, baru hapus</a:t>
            </a:r>
            <a:endParaRPr lang="en-US" sz="3000" dirty="0"/>
          </a:p>
        </p:txBody>
      </p:sp>
      <p:sp>
        <p:nvSpPr>
          <p:cNvPr id="5" name="kartu-266"/>
          <p:cNvSpPr/>
          <p:nvPr/>
        </p:nvSpPr>
        <p:spPr>
          <a:xfrm>
            <a:off x="457200" y="2103120"/>
            <a:ext cx="18288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6" name="teks-267"/>
          <p:cNvSpPr txBox="1"/>
          <p:nvPr/>
        </p:nvSpPr>
        <p:spPr>
          <a:xfrm>
            <a:off x="502920" y="21031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bg1"/>
                </a:solidFill>
              </a:rPr>
              <a:t>Tombol </a:t>
            </a:r>
            <a:r>
              <a:rPr lang="en-US" sz="1500" b="1" dirty="0">
                <a:solidFill>
                  <a:schemeClr val="accent1"/>
                </a:solidFill>
              </a:rPr>
              <a:t>Hapus</a:t>
            </a:r>
            <a:r>
              <a:rPr lang="en-US" sz="1500" dirty="0">
                <a:solidFill>
                  <a:schemeClr val="bg1"/>
                </a:solidFill>
              </a:rPr>
              <a:t> ditekan</a:t>
            </a:r>
            <a:endParaRPr lang="en-US" sz="1500" dirty="0"/>
          </a:p>
        </p:txBody>
      </p:sp>
      <p:sp>
        <p:nvSpPr>
          <p:cNvPr id="7" name="panah-268"/>
          <p:cNvSpPr/>
          <p:nvPr/>
        </p:nvSpPr>
        <p:spPr>
          <a:xfrm>
            <a:off x="2331720" y="2560320"/>
            <a:ext cx="320040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id-ID"/>
          </a:p>
        </p:txBody>
      </p:sp>
      <p:sp>
        <p:nvSpPr>
          <p:cNvPr id="8" name="keputusan-269"/>
          <p:cNvSpPr/>
          <p:nvPr/>
        </p:nvSpPr>
        <p:spPr>
          <a:xfrm>
            <a:off x="2697480" y="1874520"/>
            <a:ext cx="1600200" cy="1371600"/>
          </a:xfrm>
          <a:prstGeom prst="diamond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9" name="teks-270"/>
          <p:cNvSpPr txBox="1"/>
          <p:nvPr/>
        </p:nvSpPr>
        <p:spPr>
          <a:xfrm>
            <a:off x="2880360" y="1874520"/>
            <a:ext cx="1234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yakin dicentang?</a:t>
            </a:r>
            <a:endParaRPr lang="en-US" sz="1300" dirty="0"/>
          </a:p>
        </p:txBody>
      </p:sp>
      <p:sp>
        <p:nvSpPr>
          <p:cNvPr id="10" name="panah-271"/>
          <p:cNvSpPr/>
          <p:nvPr/>
        </p:nvSpPr>
        <p:spPr>
          <a:xfrm>
            <a:off x="3493008" y="3246120"/>
            <a:ext cx="914" cy="4114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id-ID"/>
          </a:p>
        </p:txBody>
      </p:sp>
      <p:sp>
        <p:nvSpPr>
          <p:cNvPr id="11" name="teks-272"/>
          <p:cNvSpPr txBox="1"/>
          <p:nvPr/>
        </p:nvSpPr>
        <p:spPr>
          <a:xfrm>
            <a:off x="3566160" y="32918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tidak</a:t>
            </a:r>
            <a:endParaRPr lang="en-US" sz="1200" dirty="0"/>
          </a:p>
        </p:txBody>
      </p:sp>
      <p:sp>
        <p:nvSpPr>
          <p:cNvPr id="12" name="pesan-warning-273"/>
          <p:cNvSpPr/>
          <p:nvPr/>
        </p:nvSpPr>
        <p:spPr>
          <a:xfrm>
            <a:off x="2057400" y="3703320"/>
            <a:ext cx="2926080" cy="502920"/>
          </a:xfrm>
          <a:prstGeom prst="roundRect">
            <a:avLst>
              <a:gd name="adj" fmla="val 10909"/>
            </a:avLst>
          </a:prstGeom>
          <a:solidFill>
            <a:schemeClr val="accent1">
              <a:alpha val="15000"/>
            </a:schemeClr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3" name="teks-274"/>
          <p:cNvSpPr txBox="1"/>
          <p:nvPr/>
        </p:nvSpPr>
        <p:spPr>
          <a:xfrm>
            <a:off x="2167128" y="3703320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Centang konfirmasi dulu. Tidak ada yang dihapus.</a:t>
            </a:r>
            <a:endParaRPr lang="en-US" sz="1300" dirty="0"/>
          </a:p>
        </p:txBody>
      </p:sp>
      <p:sp>
        <p:nvSpPr>
          <p:cNvPr id="14" name="panah-275"/>
          <p:cNvSpPr/>
          <p:nvPr/>
        </p:nvSpPr>
        <p:spPr>
          <a:xfrm>
            <a:off x="4343400" y="2560320"/>
            <a:ext cx="32004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id-ID"/>
          </a:p>
        </p:txBody>
      </p:sp>
      <p:sp>
        <p:nvSpPr>
          <p:cNvPr id="15" name="teks-276"/>
          <p:cNvSpPr txBox="1"/>
          <p:nvPr/>
        </p:nvSpPr>
        <p:spPr>
          <a:xfrm>
            <a:off x="4343400" y="22860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ya</a:t>
            </a:r>
            <a:endParaRPr lang="en-US" sz="1200" dirty="0"/>
          </a:p>
        </p:txBody>
      </p:sp>
      <p:sp>
        <p:nvSpPr>
          <p:cNvPr id="16" name="kartu-277"/>
          <p:cNvSpPr/>
          <p:nvPr/>
        </p:nvSpPr>
        <p:spPr>
          <a:xfrm>
            <a:off x="4709160" y="2103120"/>
            <a:ext cx="146304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17" name="teks-278"/>
          <p:cNvSpPr txBox="1"/>
          <p:nvPr/>
        </p:nvSpPr>
        <p:spPr>
          <a:xfrm>
            <a:off x="4754880" y="2103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hapus_produk(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id_hapus)</a:t>
            </a:r>
            <a:endParaRPr lang="en-US" sz="1200" dirty="0"/>
          </a:p>
        </p:txBody>
      </p:sp>
      <p:sp>
        <p:nvSpPr>
          <p:cNvPr id="18" name="panah-279"/>
          <p:cNvSpPr/>
          <p:nvPr/>
        </p:nvSpPr>
        <p:spPr>
          <a:xfrm flipV="1">
            <a:off x="6217920" y="1691640"/>
            <a:ext cx="182880" cy="8686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id-ID"/>
          </a:p>
        </p:txBody>
      </p:sp>
      <p:sp>
        <p:nvSpPr>
          <p:cNvPr id="19" name="teks-280"/>
          <p:cNvSpPr txBox="1"/>
          <p:nvPr/>
        </p:nvSpPr>
        <p:spPr>
          <a:xfrm>
            <a:off x="6446520" y="1280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hasil 1 · ID 3</a:t>
            </a:r>
            <a:endParaRPr lang="en-US" sz="1200" dirty="0"/>
          </a:p>
        </p:txBody>
      </p:sp>
      <p:sp>
        <p:nvSpPr>
          <p:cNvPr id="20" name="pesan-success-281"/>
          <p:cNvSpPr/>
          <p:nvPr/>
        </p:nvSpPr>
        <p:spPr>
          <a:xfrm>
            <a:off x="6446520" y="1572768"/>
            <a:ext cx="2240280" cy="457200"/>
          </a:xfrm>
          <a:prstGeom prst="roundRect">
            <a:avLst>
              <a:gd name="adj" fmla="val 12000"/>
            </a:avLst>
          </a:prstGeom>
          <a:solidFill>
            <a:schemeClr val="accent3">
              <a:alpha val="15000"/>
            </a:schemeClr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1" name="teks-282"/>
          <p:cNvSpPr txBox="1"/>
          <p:nvPr/>
        </p:nvSpPr>
        <p:spPr>
          <a:xfrm>
            <a:off x="6556248" y="1572768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Produk ID 3 dihapus.</a:t>
            </a:r>
            <a:endParaRPr lang="en-US" sz="1200" dirty="0"/>
          </a:p>
        </p:txBody>
      </p:sp>
      <p:sp>
        <p:nvSpPr>
          <p:cNvPr id="22" name="panah-283"/>
          <p:cNvSpPr/>
          <p:nvPr/>
        </p:nvSpPr>
        <p:spPr>
          <a:xfrm>
            <a:off x="6217920" y="2560320"/>
            <a:ext cx="182880" cy="155448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id-ID"/>
          </a:p>
        </p:txBody>
      </p:sp>
      <p:sp>
        <p:nvSpPr>
          <p:cNvPr id="23" name="teks-284"/>
          <p:cNvSpPr txBox="1"/>
          <p:nvPr/>
        </p:nvSpPr>
        <p:spPr>
          <a:xfrm>
            <a:off x="6446520" y="230428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hasil 0 · ID 999</a:t>
            </a:r>
            <a:endParaRPr lang="en-US" sz="1200" dirty="0"/>
          </a:p>
        </p:txBody>
      </p:sp>
      <p:sp>
        <p:nvSpPr>
          <p:cNvPr id="24" name="pesan-warning-285"/>
          <p:cNvSpPr/>
          <p:nvPr/>
        </p:nvSpPr>
        <p:spPr>
          <a:xfrm>
            <a:off x="6446520" y="2596896"/>
            <a:ext cx="2240280" cy="457200"/>
          </a:xfrm>
          <a:prstGeom prst="roundRect">
            <a:avLst>
              <a:gd name="adj" fmla="val 12000"/>
            </a:avLst>
          </a:prstGeom>
          <a:solidFill>
            <a:schemeClr val="accent1">
              <a:alpha val="15000"/>
            </a:schemeClr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5" name="teks-286"/>
          <p:cNvSpPr txBox="1"/>
          <p:nvPr/>
        </p:nvSpPr>
        <p:spPr>
          <a:xfrm>
            <a:off x="6556248" y="2596896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ID 999 tidak ditemukan.</a:t>
            </a:r>
            <a:endParaRPr lang="en-US" sz="1200" dirty="0"/>
          </a:p>
        </p:txBody>
      </p:sp>
      <p:sp>
        <p:nvSpPr>
          <p:cNvPr id="26" name="panah-287"/>
          <p:cNvSpPr/>
          <p:nvPr/>
        </p:nvSpPr>
        <p:spPr>
          <a:xfrm>
            <a:off x="6217920" y="2560320"/>
            <a:ext cx="182880" cy="1179576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id-ID"/>
          </a:p>
        </p:txBody>
      </p:sp>
      <p:sp>
        <p:nvSpPr>
          <p:cNvPr id="27" name="teks-288"/>
          <p:cNvSpPr txBox="1"/>
          <p:nvPr/>
        </p:nvSpPr>
        <p:spPr>
          <a:xfrm>
            <a:off x="6446520" y="332841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IntegrityError · ID 1</a:t>
            </a:r>
            <a:endParaRPr lang="en-US" sz="1200" dirty="0"/>
          </a:p>
        </p:txBody>
      </p:sp>
      <p:sp>
        <p:nvSpPr>
          <p:cNvPr id="28" name="pesan-error-289"/>
          <p:cNvSpPr/>
          <p:nvPr/>
        </p:nvSpPr>
        <p:spPr>
          <a:xfrm>
            <a:off x="6446520" y="3621024"/>
            <a:ext cx="2240280" cy="457200"/>
          </a:xfrm>
          <a:prstGeom prst="roundRect">
            <a:avLst>
              <a:gd name="adj" fmla="val 12000"/>
            </a:avLst>
          </a:prstGeom>
          <a:solidFill>
            <a:schemeClr val="accent6">
              <a:alpha val="15000"/>
            </a:schemeClr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9" name="teks-290"/>
          <p:cNvSpPr txBox="1"/>
          <p:nvPr/>
        </p:nvSpPr>
        <p:spPr>
          <a:xfrm>
            <a:off x="6556248" y="3621024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Masih dirujuk transaksi (FK).</a:t>
            </a:r>
            <a:endParaRPr lang="en-US" sz="12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DISKUSI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Dua lapis penjaga data</a:t>
            </a:r>
            <a:endParaRPr lang="en-US" sz="3000" dirty="0"/>
          </a:p>
        </p:txBody>
      </p:sp>
      <p:sp>
        <p:nvSpPr>
          <p:cNvPr id="5" name="kartu-291"/>
          <p:cNvSpPr/>
          <p:nvPr/>
        </p:nvSpPr>
        <p:spPr>
          <a:xfrm>
            <a:off x="457200" y="1325880"/>
            <a:ext cx="4023360" cy="251460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6" name="lingkar-ikon-292"/>
          <p:cNvSpPr/>
          <p:nvPr/>
        </p:nvSpPr>
        <p:spPr>
          <a:xfrm>
            <a:off x="640080" y="1481328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7" name="ikon-29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" y="1623974"/>
            <a:ext cx="263347" cy="263347"/>
          </a:xfrm>
          <a:prstGeom prst="rect">
            <a:avLst/>
          </a:prstGeom>
        </p:spPr>
      </p:pic>
      <p:sp>
        <p:nvSpPr>
          <p:cNvPr id="8" name="teks-294"/>
          <p:cNvSpPr txBox="1"/>
          <p:nvPr/>
        </p:nvSpPr>
        <p:spPr>
          <a:xfrm>
            <a:off x="1325880" y="148132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Lapis 1 · Python (app.py)</a:t>
            </a:r>
            <a:endParaRPr lang="en-US" sz="1600" dirty="0"/>
          </a:p>
        </p:txBody>
      </p:sp>
      <p:sp>
        <p:nvSpPr>
          <p:cNvPr id="9" name="teks-295"/>
          <p:cNvSpPr txBox="1"/>
          <p:nvPr/>
        </p:nvSpPr>
        <p:spPr>
          <a:xfrm>
            <a:off x="685800" y="2176272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Nama kosong ditolak oleh if nama.strip()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number_input(step=1) hanya angka bulat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Stok: min_value=0</a:t>
            </a:r>
            <a:endParaRPr lang="en-US" sz="1400" dirty="0"/>
          </a:p>
        </p:txBody>
      </p:sp>
      <p:sp>
        <p:nvSpPr>
          <p:cNvPr id="10" name="teks-296"/>
          <p:cNvSpPr txBox="1"/>
          <p:nvPr/>
        </p:nvSpPr>
        <p:spPr>
          <a:xfrm>
            <a:off x="685800" y="33649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Skenario 5: “Nama produk wajib diisi.”</a:t>
            </a:r>
            <a:endParaRPr lang="en-US" sz="1300" dirty="0"/>
          </a:p>
        </p:txBody>
      </p:sp>
      <p:sp>
        <p:nvSpPr>
          <p:cNvPr id="11" name="kartu-297"/>
          <p:cNvSpPr/>
          <p:nvPr/>
        </p:nvSpPr>
        <p:spPr>
          <a:xfrm>
            <a:off x="4663440" y="1325880"/>
            <a:ext cx="4023360" cy="251460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12" name="lingkar-ikon-298"/>
          <p:cNvSpPr/>
          <p:nvPr/>
        </p:nvSpPr>
        <p:spPr>
          <a:xfrm>
            <a:off x="4846320" y="148132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13" name="ikon-29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8966" y="1623974"/>
            <a:ext cx="263347" cy="263347"/>
          </a:xfrm>
          <a:prstGeom prst="rect">
            <a:avLst/>
          </a:prstGeom>
        </p:spPr>
      </p:pic>
      <p:sp>
        <p:nvSpPr>
          <p:cNvPr id="14" name="teks-300"/>
          <p:cNvSpPr txBox="1"/>
          <p:nvPr/>
        </p:nvSpPr>
        <p:spPr>
          <a:xfrm>
            <a:off x="5532120" y="148132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Lapis 2 · Database (kasir.db)</a:t>
            </a:r>
            <a:endParaRPr lang="en-US" sz="1600" dirty="0"/>
          </a:p>
        </p:txBody>
      </p:sp>
      <p:sp>
        <p:nvSpPr>
          <p:cNvPr id="15" name="teks-301"/>
          <p:cNvSpPr txBox="1"/>
          <p:nvPr/>
        </p:nvSpPr>
        <p:spPr>
          <a:xfrm>
            <a:off x="4892040" y="2176272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CHECK: harga bulat dan &gt; 0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FOREIGN KEY: produk yang dirujuk tak bisa dihapus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Tetap menjaga walau program lupa validasi</a:t>
            </a:r>
            <a:endParaRPr lang="en-US" sz="1400" dirty="0"/>
          </a:p>
        </p:txBody>
      </p:sp>
      <p:sp>
        <p:nvSpPr>
          <p:cNvPr id="16" name="teks-302"/>
          <p:cNvSpPr txBox="1"/>
          <p:nvPr/>
        </p:nvSpPr>
        <p:spPr>
          <a:xfrm>
            <a:off x="4892040" y="33649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Skenario 6: CHECK constraint failed</a:t>
            </a:r>
            <a:endParaRPr lang="en-US" sz="1300" dirty="0"/>
          </a:p>
        </p:txBody>
      </p:sp>
      <p:sp>
        <p:nvSpPr>
          <p:cNvPr id="17" name="kartu-303"/>
          <p:cNvSpPr/>
          <p:nvPr/>
        </p:nvSpPr>
        <p:spPr>
          <a:xfrm>
            <a:off x="457200" y="4005072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18" name="teks-304"/>
          <p:cNvSpPr txBox="1"/>
          <p:nvPr/>
        </p:nvSpPr>
        <p:spPr>
          <a:xfrm>
            <a:off x="640080" y="400507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Kolom harga sengaja tanpa min_value </a:t>
            </a:r>
            <a:r>
              <a:rPr lang="en-US" sz="1400" dirty="0">
                <a:solidFill>
                  <a:schemeClr val="tx1"/>
                </a:solidFill>
              </a:rPr>
              <a:t>agar aturan CHECK di database bisa dibuktikan pada skenario 6.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MENIT 70–85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Uji silang delapan skenario</a:t>
            </a:r>
            <a:endParaRPr lang="en-US" sz="3000" dirty="0"/>
          </a:p>
        </p:txBody>
      </p:sp>
      <p:graphicFrame>
        <p:nvGraphicFramePr>
          <p:cNvPr id="16" name="tabel-uji-3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2798064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Skenario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Pesan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Hasil yang diharapkan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Tambah Penghapus, 2000, stok 15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</a:rPr>
                        <a:t>hijau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Tersimpan, muncul ID baru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Ubah harga ID 2 (Pulpen) → 3500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</a:rPr>
                        <a:t>hijau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Harga baru tampil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Ubah harga ID 999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kuning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ID tidak ditemukan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4a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Hapus ID 1 (punya transaksi), dicentang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merah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Ditolak FOREIGN KEY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4b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Hapus ID 3 (Map Plastik), dicentang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</a:rPr>
                        <a:t>hijau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Hilang, data lain utuh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Tambah dengan nama kosong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merah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Nama wajib diisi (Python)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Tambah dengan harga -5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merah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Ditolak CHECK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Hapus ID 2 tanpa centang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kuning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Tidak ada yang terhapus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lingkar-ikon-306"/>
          <p:cNvSpPr/>
          <p:nvPr/>
        </p:nvSpPr>
        <p:spPr>
          <a:xfrm>
            <a:off x="457200" y="4279392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7" name="ikon-30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98" y="4374490"/>
            <a:ext cx="175565" cy="175565"/>
          </a:xfrm>
          <a:prstGeom prst="rect">
            <a:avLst/>
          </a:prstGeom>
        </p:spPr>
      </p:pic>
      <p:sp>
        <p:nvSpPr>
          <p:cNvPr id="8" name="teks-308"/>
          <p:cNvSpPr txBox="1"/>
          <p:nvPr/>
        </p:nvSpPr>
        <p:spPr>
          <a:xfrm>
            <a:off x="914400" y="42793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Uji penyimpanan: </a:t>
            </a:r>
            <a:r>
              <a:rPr lang="en-US" sz="1400" dirty="0">
                <a:solidFill>
                  <a:schemeClr val="tx1"/>
                </a:solidFill>
              </a:rPr>
              <a:t>Ctrl+C, jalankan lagi app.py, hasil skenario 1–4b harus tetap ada.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BANTUAN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Jika muncul masalah</a:t>
            </a:r>
            <a:endParaRPr lang="en-US" sz="3000" dirty="0"/>
          </a:p>
        </p:txBody>
      </p:sp>
      <p:sp>
        <p:nvSpPr>
          <p:cNvPr id="5" name="kartu-309"/>
          <p:cNvSpPr/>
          <p:nvPr/>
        </p:nvSpPr>
        <p:spPr>
          <a:xfrm>
            <a:off x="457200" y="1325880"/>
            <a:ext cx="4023360" cy="896112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6" name="lingkar-ikon-310"/>
          <p:cNvSpPr/>
          <p:nvPr/>
        </p:nvSpPr>
        <p:spPr>
          <a:xfrm>
            <a:off x="594360" y="1527048"/>
            <a:ext cx="475488" cy="475488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7" name="ikon-3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987" y="1650675"/>
            <a:ext cx="228234" cy="228234"/>
          </a:xfrm>
          <a:prstGeom prst="rect">
            <a:avLst/>
          </a:prstGeom>
        </p:spPr>
      </p:pic>
      <p:sp>
        <p:nvSpPr>
          <p:cNvPr id="8" name="teks-312"/>
          <p:cNvSpPr txBox="1"/>
          <p:nvPr/>
        </p:nvSpPr>
        <p:spPr>
          <a:xfrm>
            <a:off x="1188720" y="14356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module named streamlit</a:t>
            </a:r>
            <a:endParaRPr lang="en-US" sz="1300" dirty="0"/>
          </a:p>
        </p:txBody>
      </p:sp>
      <p:sp>
        <p:nvSpPr>
          <p:cNvPr id="9" name="teks-313"/>
          <p:cNvSpPr txBox="1"/>
          <p:nvPr/>
        </p:nvSpPr>
        <p:spPr>
          <a:xfrm>
            <a:off x="1188720" y="174650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Pasang dengan python -m pip install streamlit</a:t>
            </a:r>
            <a:endParaRPr lang="en-US" sz="1300" dirty="0"/>
          </a:p>
        </p:txBody>
      </p:sp>
      <p:sp>
        <p:nvSpPr>
          <p:cNvPr id="10" name="kartu-314"/>
          <p:cNvSpPr/>
          <p:nvPr/>
        </p:nvSpPr>
        <p:spPr>
          <a:xfrm>
            <a:off x="4663440" y="1325880"/>
            <a:ext cx="4023360" cy="896112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11" name="lingkar-ikon-315"/>
          <p:cNvSpPr/>
          <p:nvPr/>
        </p:nvSpPr>
        <p:spPr>
          <a:xfrm>
            <a:off x="4800600" y="1527048"/>
            <a:ext cx="475488" cy="475488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12" name="ikon-31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4227" y="1650675"/>
            <a:ext cx="228234" cy="228234"/>
          </a:xfrm>
          <a:prstGeom prst="rect">
            <a:avLst/>
          </a:prstGeom>
        </p:spPr>
      </p:pic>
      <p:sp>
        <p:nvSpPr>
          <p:cNvPr id="13" name="teks-317"/>
          <p:cNvSpPr txBox="1"/>
          <p:nvPr/>
        </p:nvSpPr>
        <p:spPr>
          <a:xfrm>
            <a:off x="5394960" y="14356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'streamlit' is not recognized</a:t>
            </a:r>
            <a:endParaRPr lang="en-US" sz="1300" dirty="0"/>
          </a:p>
        </p:txBody>
      </p:sp>
      <p:sp>
        <p:nvSpPr>
          <p:cNvPr id="14" name="teks-318"/>
          <p:cNvSpPr txBox="1"/>
          <p:nvPr/>
        </p:nvSpPr>
        <p:spPr>
          <a:xfrm>
            <a:off x="5394960" y="174650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Pakai python -m streamlit run app.py</a:t>
            </a:r>
            <a:endParaRPr lang="en-US" sz="1300" dirty="0"/>
          </a:p>
        </p:txBody>
      </p:sp>
      <p:sp>
        <p:nvSpPr>
          <p:cNvPr id="15" name="kartu-319"/>
          <p:cNvSpPr/>
          <p:nvPr/>
        </p:nvSpPr>
        <p:spPr>
          <a:xfrm>
            <a:off x="457200" y="2377440"/>
            <a:ext cx="4023360" cy="896112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16" name="lingkar-ikon-320"/>
          <p:cNvSpPr/>
          <p:nvPr/>
        </p:nvSpPr>
        <p:spPr>
          <a:xfrm>
            <a:off x="594360" y="2578608"/>
            <a:ext cx="475488" cy="475488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17" name="ikon-32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987" y="2702235"/>
            <a:ext cx="228234" cy="228234"/>
          </a:xfrm>
          <a:prstGeom prst="rect">
            <a:avLst/>
          </a:prstGeom>
        </p:spPr>
      </p:pic>
      <p:sp>
        <p:nvSpPr>
          <p:cNvPr id="18" name="teks-322"/>
          <p:cNvSpPr txBox="1"/>
          <p:nvPr/>
        </p:nvSpPr>
        <p:spPr>
          <a:xfrm>
            <a:off x="1188720" y="24871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NotImplementedError</a:t>
            </a:r>
            <a:endParaRPr lang="en-US" sz="1300" dirty="0"/>
          </a:p>
        </p:txBody>
      </p:sp>
      <p:sp>
        <p:nvSpPr>
          <p:cNvPr id="19" name="teks-323"/>
          <p:cNvSpPr txBox="1"/>
          <p:nvPr/>
        </p:nvSpPr>
        <p:spPr>
          <a:xfrm>
            <a:off x="1188720" y="279806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Latihan D belum selesai: lengkapi hapus_produk()</a:t>
            </a:r>
            <a:endParaRPr lang="en-US" sz="1300" dirty="0"/>
          </a:p>
        </p:txBody>
      </p:sp>
      <p:sp>
        <p:nvSpPr>
          <p:cNvPr id="20" name="kartu-324"/>
          <p:cNvSpPr/>
          <p:nvPr/>
        </p:nvSpPr>
        <p:spPr>
          <a:xfrm>
            <a:off x="4663440" y="2377440"/>
            <a:ext cx="4023360" cy="896112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21" name="lingkar-ikon-325"/>
          <p:cNvSpPr/>
          <p:nvPr/>
        </p:nvSpPr>
        <p:spPr>
          <a:xfrm>
            <a:off x="4800600" y="2578608"/>
            <a:ext cx="475488" cy="475488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22" name="ikon-32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4227" y="2702235"/>
            <a:ext cx="228234" cy="228234"/>
          </a:xfrm>
          <a:prstGeom prst="rect">
            <a:avLst/>
          </a:prstGeom>
        </p:spPr>
      </p:pic>
      <p:sp>
        <p:nvSpPr>
          <p:cNvPr id="23" name="teks-327"/>
          <p:cNvSpPr txBox="1"/>
          <p:nvPr/>
        </p:nvSpPr>
        <p:spPr>
          <a:xfrm>
            <a:off x="5394960" y="24871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such table: produk</a:t>
            </a:r>
            <a:endParaRPr lang="en-US" sz="1300" dirty="0"/>
          </a:p>
        </p:txBody>
      </p:sp>
      <p:sp>
        <p:nvSpPr>
          <p:cNvPr id="24" name="teks-328"/>
          <p:cNvSpPr txBox="1"/>
          <p:nvPr/>
        </p:nvSpPr>
        <p:spPr>
          <a:xfrm>
            <a:off x="5394960" y="279806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Terminal di folder salah, atau buat_database.py belum dijalankan</a:t>
            </a:r>
            <a:endParaRPr lang="en-US" sz="1300" dirty="0"/>
          </a:p>
        </p:txBody>
      </p:sp>
      <p:sp>
        <p:nvSpPr>
          <p:cNvPr id="25" name="kartu-329"/>
          <p:cNvSpPr/>
          <p:nvPr/>
        </p:nvSpPr>
        <p:spPr>
          <a:xfrm>
            <a:off x="457200" y="3429000"/>
            <a:ext cx="4023360" cy="896112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26" name="lingkar-ikon-330"/>
          <p:cNvSpPr/>
          <p:nvPr/>
        </p:nvSpPr>
        <p:spPr>
          <a:xfrm>
            <a:off x="594360" y="3630168"/>
            <a:ext cx="475488" cy="475488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27" name="ikon-33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987" y="3753795"/>
            <a:ext cx="228234" cy="228234"/>
          </a:xfrm>
          <a:prstGeom prst="rect">
            <a:avLst/>
          </a:prstGeom>
        </p:spPr>
      </p:pic>
      <p:sp>
        <p:nvSpPr>
          <p:cNvPr id="28" name="teks-332"/>
          <p:cNvSpPr txBox="1"/>
          <p:nvPr/>
        </p:nvSpPr>
        <p:spPr>
          <a:xfrm>
            <a:off x="1188720" y="35387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Perubahan kode tidak terlihat</a:t>
            </a:r>
            <a:endParaRPr lang="en-US" sz="1300" dirty="0"/>
          </a:p>
        </p:txBody>
      </p:sp>
      <p:sp>
        <p:nvSpPr>
          <p:cNvPr id="29" name="teks-333"/>
          <p:cNvSpPr txBox="1"/>
          <p:nvPr/>
        </p:nvSpPr>
        <p:spPr>
          <a:xfrm>
            <a:off x="1188720" y="384962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Simpan file, lalu tekan R / Rerun di browser</a:t>
            </a:r>
            <a:endParaRPr lang="en-US" sz="1300" dirty="0"/>
          </a:p>
        </p:txBody>
      </p:sp>
      <p:sp>
        <p:nvSpPr>
          <p:cNvPr id="30" name="kartu-334"/>
          <p:cNvSpPr/>
          <p:nvPr/>
        </p:nvSpPr>
        <p:spPr>
          <a:xfrm>
            <a:off x="4663440" y="3429000"/>
            <a:ext cx="4023360" cy="896112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31" name="lingkar-ikon-335"/>
          <p:cNvSpPr/>
          <p:nvPr/>
        </p:nvSpPr>
        <p:spPr>
          <a:xfrm>
            <a:off x="4800600" y="3630168"/>
            <a:ext cx="475488" cy="475488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32" name="ikon-33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4227" y="3753795"/>
            <a:ext cx="228234" cy="228234"/>
          </a:xfrm>
          <a:prstGeom prst="rect">
            <a:avLst/>
          </a:prstGeom>
        </p:spPr>
      </p:pic>
      <p:sp>
        <p:nvSpPr>
          <p:cNvPr id="33" name="teks-337"/>
          <p:cNvSpPr txBox="1"/>
          <p:nvPr/>
        </p:nvSpPr>
        <p:spPr>
          <a:xfrm>
            <a:off x="5394960" y="35387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 is locked</a:t>
            </a:r>
            <a:endParaRPr lang="en-US" sz="1300" dirty="0"/>
          </a:p>
        </p:txBody>
      </p:sp>
      <p:sp>
        <p:nvSpPr>
          <p:cNvPr id="34" name="teks-338"/>
          <p:cNvSpPr txBox="1"/>
          <p:nvPr/>
        </p:nvSpPr>
        <p:spPr>
          <a:xfrm>
            <a:off x="5394960" y="384962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Tutup program lain yang membuka kasir.db</a:t>
            </a:r>
            <a:endParaRPr lang="en-US" sz="13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LUARAN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Yang dikumpulkan</a:t>
            </a:r>
            <a:endParaRPr lang="en-US" sz="3000" dirty="0"/>
          </a:p>
        </p:txBody>
      </p:sp>
      <p:sp>
        <p:nvSpPr>
          <p:cNvPr id="5" name="kotak-kode-339"/>
          <p:cNvSpPr/>
          <p:nvPr/>
        </p:nvSpPr>
        <p:spPr>
          <a:xfrm>
            <a:off x="457200" y="1325880"/>
            <a:ext cx="3931920" cy="27432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6" name="kode-340"/>
          <p:cNvSpPr txBox="1"/>
          <p:nvPr/>
        </p:nvSpPr>
        <p:spPr>
          <a:xfrm>
            <a:off x="640080" y="146304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minggu-06/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kasir.db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buat_database.py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uji_aturan.py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database.py     # Latihan D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app.py          # Latihan E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lembar-kerja-terisi.docx</a:t>
            </a:r>
            <a:endParaRPr lang="en-US" sz="1300" dirty="0"/>
          </a:p>
        </p:txBody>
      </p:sp>
      <p:sp>
        <p:nvSpPr>
          <p:cNvPr id="7" name="kartu-341"/>
          <p:cNvSpPr/>
          <p:nvPr/>
        </p:nvSpPr>
        <p:spPr>
          <a:xfrm>
            <a:off x="4663440" y="1325880"/>
            <a:ext cx="402336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pic>
        <p:nvPicPr>
          <p:cNvPr id="8" name="centang-34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426464"/>
            <a:ext cx="256032" cy="256032"/>
          </a:xfrm>
          <a:prstGeom prst="rect">
            <a:avLst/>
          </a:prstGeom>
        </p:spPr>
      </p:pic>
      <p:sp>
        <p:nvSpPr>
          <p:cNvPr id="9" name="teks-343"/>
          <p:cNvSpPr txBox="1"/>
          <p:nvPr/>
        </p:nvSpPr>
        <p:spPr>
          <a:xfrm>
            <a:off x="5193792" y="13258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CRUD bekerja dari halaman web</a:t>
            </a:r>
            <a:endParaRPr lang="en-US" sz="1400" dirty="0"/>
          </a:p>
        </p:txBody>
      </p:sp>
      <p:sp>
        <p:nvSpPr>
          <p:cNvPr id="10" name="kartu-344"/>
          <p:cNvSpPr/>
          <p:nvPr/>
        </p:nvSpPr>
        <p:spPr>
          <a:xfrm>
            <a:off x="4663440" y="1892808"/>
            <a:ext cx="402336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pic>
        <p:nvPicPr>
          <p:cNvPr id="11" name="centang-34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993392"/>
            <a:ext cx="256032" cy="256032"/>
          </a:xfrm>
          <a:prstGeom prst="rect">
            <a:avLst/>
          </a:prstGeom>
        </p:spPr>
      </p:pic>
      <p:sp>
        <p:nvSpPr>
          <p:cNvPr id="12" name="teks-346"/>
          <p:cNvSpPr txBox="1"/>
          <p:nvPr/>
        </p:nvSpPr>
        <p:spPr>
          <a:xfrm>
            <a:off x="5193792" y="189280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Tabel B4 terisi hasil asli, delapan skenario</a:t>
            </a:r>
            <a:endParaRPr lang="en-US" sz="1400" dirty="0"/>
          </a:p>
        </p:txBody>
      </p:sp>
      <p:sp>
        <p:nvSpPr>
          <p:cNvPr id="13" name="kartu-347"/>
          <p:cNvSpPr/>
          <p:nvPr/>
        </p:nvSpPr>
        <p:spPr>
          <a:xfrm>
            <a:off x="4663440" y="2459736"/>
            <a:ext cx="402336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pic>
        <p:nvPicPr>
          <p:cNvPr id="14" name="centang-34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560320"/>
            <a:ext cx="256032" cy="256032"/>
          </a:xfrm>
          <a:prstGeom prst="rect">
            <a:avLst/>
          </a:prstGeom>
        </p:spPr>
      </p:pic>
      <p:sp>
        <p:nvSpPr>
          <p:cNvPr id="15" name="teks-349"/>
          <p:cNvSpPr txBox="1"/>
          <p:nvPr/>
        </p:nvSpPr>
        <p:spPr>
          <a:xfrm>
            <a:off x="5193792" y="245973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Tangkapan layar skenario 1, 4a, dan 6</a:t>
            </a:r>
            <a:endParaRPr lang="en-US" sz="1400" dirty="0"/>
          </a:p>
        </p:txBody>
      </p:sp>
      <p:sp>
        <p:nvSpPr>
          <p:cNvPr id="16" name="kartu-350"/>
          <p:cNvSpPr/>
          <p:nvPr/>
        </p:nvSpPr>
        <p:spPr>
          <a:xfrm>
            <a:off x="4663440" y="3026664"/>
            <a:ext cx="402336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pic>
        <p:nvPicPr>
          <p:cNvPr id="17" name="centang-35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127248"/>
            <a:ext cx="256032" cy="256032"/>
          </a:xfrm>
          <a:prstGeom prst="rect">
            <a:avLst/>
          </a:prstGeom>
        </p:spPr>
      </p:pic>
      <p:sp>
        <p:nvSpPr>
          <p:cNvPr id="18" name="teks-352"/>
          <p:cNvSpPr txBox="1"/>
          <p:nvPr/>
        </p:nvSpPr>
        <p:spPr>
          <a:xfrm>
            <a:off x="5193792" y="302666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Data tetap ada setelah dijalankan ulang</a:t>
            </a:r>
            <a:endParaRPr lang="en-US" sz="1400" dirty="0"/>
          </a:p>
        </p:txBody>
      </p:sp>
      <p:sp>
        <p:nvSpPr>
          <p:cNvPr id="19" name="kartu-353"/>
          <p:cNvSpPr/>
          <p:nvPr/>
        </p:nvSpPr>
        <p:spPr>
          <a:xfrm>
            <a:off x="4663440" y="3593592"/>
            <a:ext cx="402336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pic>
        <p:nvPicPr>
          <p:cNvPr id="20" name="centang-35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694176"/>
            <a:ext cx="256032" cy="256032"/>
          </a:xfrm>
          <a:prstGeom prst="rect">
            <a:avLst/>
          </a:prstGeom>
        </p:spPr>
      </p:pic>
      <p:sp>
        <p:nvSpPr>
          <p:cNvPr id="21" name="teks-355"/>
          <p:cNvSpPr txBox="1"/>
          <p:nvPr/>
        </p:nvSpPr>
        <p:spPr>
          <a:xfrm>
            <a:off x="5193792" y="359359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Refleksi B5 dan satu perbaikan</a:t>
            </a:r>
            <a:endParaRPr lang="en-US" sz="1400" dirty="0"/>
          </a:p>
        </p:txBody>
      </p:sp>
      <p:sp>
        <p:nvSpPr>
          <p:cNvPr id="22" name="teks-356"/>
          <p:cNvSpPr txBox="1"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Kelas jalur cadangan mengumpulkan main.py sebagai pengganti app.py.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chemeClr val="accent1"/>
                </a:solidFill>
              </a:rPr>
              <a:t>JEMBATAN KE MINGGU 7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6459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Fitur baru, mesin yang sama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063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database.py hari ini tetap dipakai tanpa diubah. Minggu 7 menambah:</a:t>
            </a:r>
            <a:endParaRPr lang="en-US" sz="1600" dirty="0"/>
          </a:p>
        </p:txBody>
      </p:sp>
      <p:sp>
        <p:nvSpPr>
          <p:cNvPr id="5" name="lingkar-ikon-357"/>
          <p:cNvSpPr/>
          <p:nvPr/>
        </p:nvSpPr>
        <p:spPr>
          <a:xfrm>
            <a:off x="548640" y="36576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6" name="ikon-35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3805001"/>
            <a:ext cx="272125" cy="272125"/>
          </a:xfrm>
          <a:prstGeom prst="rect">
            <a:avLst/>
          </a:prstGeom>
        </p:spPr>
      </p:pic>
      <p:sp>
        <p:nvSpPr>
          <p:cNvPr id="7" name="teks-359"/>
          <p:cNvSpPr txBox="1"/>
          <p:nvPr/>
        </p:nvSpPr>
        <p:spPr>
          <a:xfrm>
            <a:off x="1234440" y="36393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Catat penjualan</a:t>
            </a:r>
            <a:endParaRPr lang="en-US" sz="1500" dirty="0"/>
          </a:p>
        </p:txBody>
      </p:sp>
      <p:sp>
        <p:nvSpPr>
          <p:cNvPr id="8" name="teks-360"/>
          <p:cNvSpPr txBox="1"/>
          <p:nvPr/>
        </p:nvSpPr>
        <p:spPr>
          <a:xfrm>
            <a:off x="1234440" y="3931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harga_satuan dan stok dalam satu commit</a:t>
            </a:r>
            <a:endParaRPr lang="en-US" sz="1200" dirty="0"/>
          </a:p>
        </p:txBody>
      </p:sp>
      <p:sp>
        <p:nvSpPr>
          <p:cNvPr id="9" name="lingkar-ikon-361"/>
          <p:cNvSpPr/>
          <p:nvPr/>
        </p:nvSpPr>
        <p:spPr>
          <a:xfrm>
            <a:off x="3291840" y="36576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10" name="ikon-36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9241" y="3805001"/>
            <a:ext cx="272125" cy="272125"/>
          </a:xfrm>
          <a:prstGeom prst="rect">
            <a:avLst/>
          </a:prstGeom>
        </p:spPr>
      </p:pic>
      <p:sp>
        <p:nvSpPr>
          <p:cNvPr id="11" name="teks-363"/>
          <p:cNvSpPr txBox="1"/>
          <p:nvPr/>
        </p:nvSpPr>
        <p:spPr>
          <a:xfrm>
            <a:off x="3977640" y="36393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Laporan omzet</a:t>
            </a:r>
            <a:endParaRPr lang="en-US" sz="1500" dirty="0"/>
          </a:p>
        </p:txBody>
      </p:sp>
      <p:sp>
        <p:nvSpPr>
          <p:cNvPr id="12" name="teks-364"/>
          <p:cNvSpPr txBox="1"/>
          <p:nvPr/>
        </p:nvSpPr>
        <p:spPr>
          <a:xfrm>
            <a:off x="3977640" y="3931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LEFT JOIN dan grafik st.bar_chart</a:t>
            </a:r>
            <a:endParaRPr lang="en-US" sz="1200" dirty="0"/>
          </a:p>
        </p:txBody>
      </p:sp>
      <p:sp>
        <p:nvSpPr>
          <p:cNvPr id="13" name="lingkar-ikon-365"/>
          <p:cNvSpPr/>
          <p:nvPr/>
        </p:nvSpPr>
        <p:spPr>
          <a:xfrm>
            <a:off x="6035040" y="36576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id-ID"/>
          </a:p>
        </p:txBody>
      </p:sp>
      <p:pic>
        <p:nvPicPr>
          <p:cNvPr id="14" name="ikon-36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2441" y="3805001"/>
            <a:ext cx="272125" cy="272125"/>
          </a:xfrm>
          <a:prstGeom prst="rect">
            <a:avLst/>
          </a:prstGeom>
        </p:spPr>
      </p:pic>
      <p:sp>
        <p:nvSpPr>
          <p:cNvPr id="15" name="teks-367"/>
          <p:cNvSpPr txBox="1"/>
          <p:nvPr/>
        </p:nvSpPr>
        <p:spPr>
          <a:xfrm>
            <a:off x="6720840" y="36393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Cari produk</a:t>
            </a:r>
            <a:endParaRPr lang="en-US" sz="1500" dirty="0"/>
          </a:p>
        </p:txBody>
      </p:sp>
      <p:sp>
        <p:nvSpPr>
          <p:cNvPr id="16" name="teks-368"/>
          <p:cNvSpPr txBox="1"/>
          <p:nvPr/>
        </p:nvSpPr>
        <p:spPr>
          <a:xfrm>
            <a:off x="6720840" y="3931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WHERE nama LIKE ? dan tata letak tabs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ggu 6 Streamlit">
  <a:themeElements>
    <a:clrScheme name="Minggu 6 Streamlit">
      <a:dk1>
        <a:srgbClr val="1F2937"/>
      </a:dk1>
      <a:lt1>
        <a:srgbClr val="FFFFFF"/>
      </a:lt1>
      <a:dk2>
        <a:srgbClr val="1B2A4A"/>
      </a:dk2>
      <a:lt2>
        <a:srgbClr val="F3F6FB"/>
      </a:lt2>
      <a:accent1>
        <a:srgbClr val="F2A93B"/>
      </a:accent1>
      <a:accent2>
        <a:srgbClr val="FF4B4B"/>
      </a:accent2>
      <a:accent3>
        <a:srgbClr val="2E9E6B"/>
      </a:accent3>
      <a:accent4>
        <a:srgbClr val="3B5B8C"/>
      </a:accent4>
      <a:accent5>
        <a:srgbClr val="64748B"/>
      </a:accent5>
      <a:accent6>
        <a:srgbClr val="C2410C"/>
      </a:accent6>
      <a:hlink>
        <a:srgbClr val="3B5B8C"/>
      </a:hlink>
      <a:folHlink>
        <a:srgbClr val="64748B"/>
      </a:folHlink>
    </a:clrScheme>
    <a:fontScheme name="Minggu 6 Streamli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2131</Words>
  <Application>Microsoft Office PowerPoint</Application>
  <PresentationFormat>Peragaan Layar (16:9)</PresentationFormat>
  <Paragraphs>351</Paragraphs>
  <Slides>18</Slides>
  <Notes>18</Notes>
  <HiddenSlides>0</HiddenSlides>
  <MMClips>0</MMClips>
  <ScaleCrop>false</ScaleCrop>
  <HeadingPairs>
    <vt:vector size="6" baseType="variant">
      <vt:variant>
        <vt:lpstr>Font Dipakai</vt:lpstr>
      </vt:variant>
      <vt:variant>
        <vt:i4>4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Consolas</vt:lpstr>
      <vt:lpstr>Minggu 6 Streamlit</vt:lpstr>
      <vt:lpstr>CRUD lewat Aplikasi Streamlit</vt:lpstr>
      <vt:lpstr>Alur pertemuan hari ini</vt:lpstr>
      <vt:lpstr>Wajah baru, mesin yang sama</vt:lpstr>
      <vt:lpstr>File Task Distribution</vt:lpstr>
      <vt:lpstr>Streamlit terpasang sebelum kelas</vt:lpstr>
      <vt:lpstr>Pola yang selalu sama di database.py</vt:lpstr>
      <vt:lpstr>Lengkapi hapus_produk()</vt:lpstr>
      <vt:lpstr>Jalankan app.py di browser</vt:lpstr>
      <vt:lpstr>Setiap tombol ditekan, app.py dijalankan ulang</vt:lpstr>
      <vt:lpstr>Komponen yang dipakai hari ini</vt:lpstr>
      <vt:lpstr>Anatomi bagian Tambah produk</vt:lpstr>
      <vt:lpstr>Ubah harga: tiga kemungkinan hasil</vt:lpstr>
      <vt:lpstr>Hapus: konfirmasi dulu, baru hapus</vt:lpstr>
      <vt:lpstr>Dua lapis penjaga data</vt:lpstr>
      <vt:lpstr>Uji silang delapan skenario</vt:lpstr>
      <vt:lpstr>Jika muncul masalah</vt:lpstr>
      <vt:lpstr>Yang dikumpulkan</vt:lpstr>
      <vt:lpstr>Fitur baru, mesin yang sama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6.2 — CRUD lewat Aplikasi Streamlit</dc:title>
  <dc:subject>PptxGenJS Presentation</dc:subject>
  <dc:creator>Pemograman Bisnis &amp;amp; Perancangan Sistem Administrasi</dc:creator>
  <cp:lastModifiedBy>account9211</cp:lastModifiedBy>
  <cp:revision>2</cp:revision>
  <dcterms:created xsi:type="dcterms:W3CDTF">2026-10-06T05:54:02Z</dcterms:created>
  <dcterms:modified xsi:type="dcterms:W3CDTF">2026-10-06T05:56:37Z</dcterms:modified>
</cp:coreProperties>
</file>